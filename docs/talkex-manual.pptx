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01200" y="-1371600"/>
            <a:ext cx="4114800" cy="4114800"/>
          </a:xfrm>
          <a:prstGeom prst="ellipse">
            <a:avLst/>
          </a:prstGeom>
          <a:solidFill>
            <a:srgbClr val="065A82"/>
          </a:solidFill>
          <a:ln/>
        </p:spPr>
      </p:sp>
      <p:sp>
        <p:nvSpPr>
          <p:cNvPr id="3" name="Shape 1"/>
          <p:cNvSpPr/>
          <p:nvPr/>
        </p:nvSpPr>
        <p:spPr>
          <a:xfrm>
            <a:off x="-914400" y="5029200"/>
            <a:ext cx="3200400" cy="3200400"/>
          </a:xfrm>
          <a:prstGeom prst="ellipse">
            <a:avLst/>
          </a:prstGeom>
          <a:solidFill>
            <a:srgbClr val="1C7293">
              <a:alpha val="60000"/>
            </a:srgbClr>
          </a:solidFill>
          <a:ln/>
        </p:spPr>
      </p:sp>
      <p:sp>
        <p:nvSpPr>
          <p:cNvPr id="4" name="Text 2"/>
          <p:cNvSpPr txBox="1"/>
          <p:nvPr/>
        </p:nvSpPr>
        <p:spPr>
          <a:xfrm>
            <a:off x="640080" y="457200"/>
            <a:ext cx="3657600" cy="365760"/>
          </a:xfrm>
          <a:prstGeom prst="rect">
            <a:avLst/>
          </a:prstGeom>
          <a:noFill/>
          <a:ln/>
        </p:spPr>
        <p:txBody>
          <a:bodyPr wrap="square" lIns="0" tIns="0" rIns="0" bIns="0" rtlCol="0" anchor="ctr"/>
          <a:lstStyle/>
          <a:p>
            <a:pPr indent="0" marL="0">
              <a:buNone/>
            </a:pPr>
            <a:r>
              <a:rPr lang="en-US" sz="1400" b="1" spc="800" kern="0" dirty="0">
                <a:solidFill>
                  <a:srgbClr val="F96167"/>
                </a:solidFill>
                <a:latin typeface="Calibri" pitchFamily="34" charset="0"/>
                <a:ea typeface="Calibri" pitchFamily="34" charset="-122"/>
                <a:cs typeface="Calibri" pitchFamily="34" charset="-120"/>
              </a:rPr>
              <a:t>TalkEx</a:t>
            </a:r>
            <a:endParaRPr lang="en-US" sz="1400" dirty="0"/>
          </a:p>
        </p:txBody>
      </p:sp>
      <p:sp>
        <p:nvSpPr>
          <p:cNvPr id="5" name="Text 3"/>
          <p:cNvSpPr txBox="1"/>
          <p:nvPr/>
        </p:nvSpPr>
        <p:spPr>
          <a:xfrm>
            <a:off x="640080" y="2194560"/>
            <a:ext cx="10972800" cy="18288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TalkEx Business</a:t>
            </a:r>
            <a:endParaRPr lang="en-US" sz="6000" dirty="0"/>
          </a:p>
        </p:txBody>
      </p:sp>
      <p:sp>
        <p:nvSpPr>
          <p:cNvPr id="6" name="Text 4"/>
          <p:cNvSpPr txBox="1"/>
          <p:nvPr/>
        </p:nvSpPr>
        <p:spPr>
          <a:xfrm>
            <a:off x="640080" y="4206240"/>
            <a:ext cx="10058400" cy="91440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One Platform. Every Messaging Channel.</a:t>
            </a:r>
            <a:endParaRPr lang="en-US" sz="2200" dirty="0"/>
          </a:p>
        </p:txBody>
      </p:sp>
      <p:sp>
        <p:nvSpPr>
          <p:cNvPr id="7" name="Shape 5"/>
          <p:cNvSpPr/>
          <p:nvPr/>
        </p:nvSpPr>
        <p:spPr>
          <a:xfrm>
            <a:off x="640080" y="6217920"/>
            <a:ext cx="548640" cy="54864"/>
          </a:xfrm>
          <a:prstGeom prst="rectangle">
            <a:avLst/>
          </a:prstGeom>
          <a:solidFill>
            <a:srgbClr val="F96167"/>
          </a:solidFill>
          <a:ln/>
        </p:spPr>
      </p:sp>
      <p:sp>
        <p:nvSpPr>
          <p:cNvPr id="8" name="Text 6"/>
          <p:cNvSpPr txBox="1"/>
          <p:nvPr/>
        </p:nvSpPr>
        <p:spPr>
          <a:xfrm>
            <a:off x="1371600" y="6080760"/>
            <a:ext cx="7315200" cy="36576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CoreAxis Ventures  ·  User Manual  ·  v2.0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What TalkEx Business is</a:t>
            </a:r>
            <a:endParaRPr lang="en-US" sz="30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indent="0" marL="0">
              <a:buNone/>
            </a:pPr>
            <a:r>
              <a:rPr lang="en-US" sz="1300" b="1" spc="400" kern="0" dirty="0">
                <a:solidFill>
                  <a:srgbClr val="1C7293"/>
                </a:solidFill>
                <a:latin typeface="Calibri" pitchFamily="34" charset="0"/>
                <a:ea typeface="Calibri" pitchFamily="34" charset="-122"/>
                <a:cs typeface="Calibri" pitchFamily="34" charset="-120"/>
              </a:rPr>
              <a:t>ONE-MINUTE OVERVIEW</a:t>
            </a:r>
            <a:endParaRPr lang="en-US" sz="1300" dirty="0"/>
          </a:p>
        </p:txBody>
      </p:sp>
      <p:sp>
        <p:nvSpPr>
          <p:cNvPr id="4" name="Text 2"/>
          <p:cNvSpPr txBox="1"/>
          <p:nvPr/>
        </p:nvSpPr>
        <p:spPr>
          <a:xfrm>
            <a:off x="548640" y="1463040"/>
            <a:ext cx="7680960" cy="3657600"/>
          </a:xfrm>
          <a:prstGeom prst="rect">
            <a:avLst/>
          </a:prstGeom>
          <a:noFill/>
          <a:ln/>
        </p:spPr>
        <p:txBody>
          <a:bodyPr wrap="square" lIns="0" tIns="0" rIns="0" bIns="0" rtlCol="0" anchor="t"/>
          <a:lstStyle/>
          <a:p>
            <a:pPr indent="0" marL="0">
              <a:spcAft>
                <a:spcPts val="1000"/>
              </a:spcAft>
              <a:buNone/>
            </a:pPr>
            <a:r>
              <a:rPr lang="en-US" sz="2000" dirty="0">
                <a:solidFill>
                  <a:srgbClr val="111827"/>
                </a:solidFill>
                <a:latin typeface="Calibri" pitchFamily="34" charset="0"/>
                <a:ea typeface="Calibri" pitchFamily="34" charset="-122"/>
                <a:cs typeface="Calibri" pitchFamily="34" charset="-120"/>
              </a:rPr>
              <a:t>An enterprise </a:t>
            </a:r>
            <a:pPr indent="0" marL="0">
              <a:spcAft>
                <a:spcPts val="1000"/>
              </a:spcAft>
              <a:buNone/>
            </a:pPr>
            <a:r>
              <a:rPr lang="en-US" sz="2000" b="1" dirty="0">
                <a:solidFill>
                  <a:srgbClr val="065A82"/>
                </a:solidFill>
                <a:latin typeface="Calibri" pitchFamily="34" charset="0"/>
                <a:ea typeface="Calibri" pitchFamily="34" charset="-122"/>
                <a:cs typeface="Calibri" pitchFamily="34" charset="-120"/>
              </a:rPr>
              <a:t>CPaaS dashboard</a:t>
            </a:r>
            <a:pPr indent="0" marL="0">
              <a:spcAft>
                <a:spcPts val="1000"/>
              </a:spcAft>
              <a:buNone/>
            </a:pPr>
            <a:r>
              <a:rPr lang="en-US" sz="2000" dirty="0">
                <a:solidFill>
                  <a:srgbClr val="111827"/>
                </a:solidFill>
                <a:latin typeface="Calibri" pitchFamily="34" charset="0"/>
                <a:ea typeface="Calibri" pitchFamily="34" charset="-122"/>
                <a:cs typeface="Calibri" pitchFamily="34" charset="-120"/>
              </a:rPr>
              <a:t> — the operations layer on top of WhatsApp Cloud API, Telegram, Email, SMS, RCS, Instagram, Messenger, TalkEx, and an embeddable Live Chat widget. Every customer conversation lands in the same inbox, every campaign runs through the same messaging engine, every rupee is tracked in the same wallet.</a:t>
            </a:r>
            <a:endParaRPr lang="en-US" sz="2000" dirty="0"/>
          </a:p>
        </p:txBody>
      </p:sp>
      <p:sp>
        <p:nvSpPr>
          <p:cNvPr id="5" name="Text 3"/>
          <p:cNvSpPr txBox="1"/>
          <p:nvPr/>
        </p:nvSpPr>
        <p:spPr>
          <a:xfrm>
            <a:off x="8686800" y="1371600"/>
            <a:ext cx="3200400" cy="914400"/>
          </a:xfrm>
          <a:prstGeom prst="rect">
            <a:avLst/>
          </a:prstGeom>
          <a:noFill/>
          <a:ln/>
        </p:spPr>
        <p:txBody>
          <a:bodyPr wrap="square" lIns="0" tIns="0" rIns="0" bIns="0" rtlCol="0" anchor="ctr"/>
          <a:lstStyle/>
          <a:p>
            <a:pPr algn="l" indent="0" marL="0">
              <a:buNone/>
            </a:pPr>
            <a:r>
              <a:rPr lang="en-US" sz="5600" b="1" dirty="0">
                <a:solidFill>
                  <a:srgbClr val="065A82"/>
                </a:solidFill>
                <a:latin typeface="Cambria" pitchFamily="34" charset="0"/>
                <a:ea typeface="Cambria" pitchFamily="34" charset="-122"/>
                <a:cs typeface="Cambria" pitchFamily="34" charset="-120"/>
              </a:rPr>
              <a:t>8</a:t>
            </a:r>
            <a:endParaRPr lang="en-US" sz="5600" dirty="0"/>
          </a:p>
        </p:txBody>
      </p:sp>
      <p:sp>
        <p:nvSpPr>
          <p:cNvPr id="6" name="Text 4"/>
          <p:cNvSpPr txBox="1"/>
          <p:nvPr/>
        </p:nvSpPr>
        <p:spPr>
          <a:xfrm>
            <a:off x="8686800" y="2240280"/>
            <a:ext cx="3200400" cy="36576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Messaging channels</a:t>
            </a:r>
            <a:endParaRPr lang="en-US" sz="1200" dirty="0"/>
          </a:p>
        </p:txBody>
      </p:sp>
      <p:sp>
        <p:nvSpPr>
          <p:cNvPr id="7" name="Text 5"/>
          <p:cNvSpPr txBox="1"/>
          <p:nvPr/>
        </p:nvSpPr>
        <p:spPr>
          <a:xfrm>
            <a:off x="8686800" y="2651760"/>
            <a:ext cx="3200400" cy="914400"/>
          </a:xfrm>
          <a:prstGeom prst="rect">
            <a:avLst/>
          </a:prstGeom>
          <a:noFill/>
          <a:ln/>
        </p:spPr>
        <p:txBody>
          <a:bodyPr wrap="square" lIns="0" tIns="0" rIns="0" bIns="0" rtlCol="0" anchor="ctr"/>
          <a:lstStyle/>
          <a:p>
            <a:pPr algn="l" indent="0" marL="0">
              <a:buNone/>
            </a:pPr>
            <a:r>
              <a:rPr lang="en-US" sz="5600" b="1" dirty="0">
                <a:solidFill>
                  <a:srgbClr val="F96167"/>
                </a:solidFill>
                <a:latin typeface="Cambria" pitchFamily="34" charset="0"/>
                <a:ea typeface="Cambria" pitchFamily="34" charset="-122"/>
                <a:cs typeface="Cambria" pitchFamily="34" charset="-120"/>
              </a:rPr>
              <a:t>34+</a:t>
            </a:r>
            <a:endParaRPr lang="en-US" sz="5600" dirty="0"/>
          </a:p>
        </p:txBody>
      </p:sp>
      <p:sp>
        <p:nvSpPr>
          <p:cNvPr id="8" name="Text 6"/>
          <p:cNvSpPr txBox="1"/>
          <p:nvPr/>
        </p:nvSpPr>
        <p:spPr>
          <a:xfrm>
            <a:off x="8686800" y="3520440"/>
            <a:ext cx="3200400" cy="36576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Backend packages</a:t>
            </a:r>
            <a:endParaRPr lang="en-US" sz="1200" dirty="0"/>
          </a:p>
        </p:txBody>
      </p:sp>
      <p:sp>
        <p:nvSpPr>
          <p:cNvPr id="9" name="Text 7"/>
          <p:cNvSpPr txBox="1"/>
          <p:nvPr/>
        </p:nvSpPr>
        <p:spPr>
          <a:xfrm>
            <a:off x="8686800" y="3931920"/>
            <a:ext cx="3200400" cy="914400"/>
          </a:xfrm>
          <a:prstGeom prst="rect">
            <a:avLst/>
          </a:prstGeom>
          <a:noFill/>
          <a:ln/>
        </p:spPr>
        <p:txBody>
          <a:bodyPr wrap="square" lIns="0" tIns="0" rIns="0" bIns="0" rtlCol="0" anchor="ctr"/>
          <a:lstStyle/>
          <a:p>
            <a:pPr algn="l" indent="0" marL="0">
              <a:buNone/>
            </a:pPr>
            <a:r>
              <a:rPr lang="en-US" sz="5600" b="1" dirty="0">
                <a:solidFill>
                  <a:srgbClr val="065A82"/>
                </a:solidFill>
                <a:latin typeface="Cambria" pitchFamily="34" charset="0"/>
                <a:ea typeface="Cambria" pitchFamily="34" charset="-122"/>
                <a:cs typeface="Cambria" pitchFamily="34" charset="-120"/>
              </a:rPr>
              <a:t>27</a:t>
            </a:r>
            <a:endParaRPr lang="en-US" sz="5600" dirty="0"/>
          </a:p>
        </p:txBody>
      </p:sp>
      <p:sp>
        <p:nvSpPr>
          <p:cNvPr id="10" name="Text 8"/>
          <p:cNvSpPr txBox="1"/>
          <p:nvPr/>
        </p:nvSpPr>
        <p:spPr>
          <a:xfrm>
            <a:off x="8686800" y="4800600"/>
            <a:ext cx="3200400" cy="36576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Frontend pages</a:t>
            </a:r>
            <a:endParaRPr lang="en-US" sz="1200" dirty="0"/>
          </a:p>
        </p:txBody>
      </p:sp>
      <p:sp>
        <p:nvSpPr>
          <p:cNvPr id="11" name="Text 9"/>
          <p:cNvSpPr txBox="1"/>
          <p:nvPr/>
        </p:nvSpPr>
        <p:spPr>
          <a:xfrm>
            <a:off x="8686800" y="5212080"/>
            <a:ext cx="3200400" cy="914400"/>
          </a:xfrm>
          <a:prstGeom prst="rect">
            <a:avLst/>
          </a:prstGeom>
          <a:noFill/>
          <a:ln/>
        </p:spPr>
        <p:txBody>
          <a:bodyPr wrap="square" lIns="0" tIns="0" rIns="0" bIns="0" rtlCol="0" anchor="ctr"/>
          <a:lstStyle/>
          <a:p>
            <a:pPr algn="l" indent="0" marL="0">
              <a:buNone/>
            </a:pPr>
            <a:r>
              <a:rPr lang="en-US" sz="5600" b="1" dirty="0">
                <a:solidFill>
                  <a:srgbClr val="F96167"/>
                </a:solidFill>
                <a:latin typeface="Cambria" pitchFamily="34" charset="0"/>
                <a:ea typeface="Cambria" pitchFamily="34" charset="-122"/>
                <a:cs typeface="Cambria" pitchFamily="34" charset="-120"/>
              </a:rPr>
              <a:t>v2</a:t>
            </a:r>
            <a:endParaRPr lang="en-US" sz="5600" dirty="0"/>
          </a:p>
        </p:txBody>
      </p:sp>
      <p:sp>
        <p:nvSpPr>
          <p:cNvPr id="12" name="Text 10"/>
          <p:cNvSpPr txBox="1"/>
          <p:nvPr/>
        </p:nvSpPr>
        <p:spPr>
          <a:xfrm>
            <a:off x="8686800" y="6080760"/>
            <a:ext cx="3200400" cy="36576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Manual revision</a:t>
            </a:r>
            <a:endParaRPr lang="en-US" sz="1200" dirty="0"/>
          </a:p>
        </p:txBody>
      </p:sp>
      <p:sp>
        <p:nvSpPr>
          <p:cNvPr id="13" name="Shape 11"/>
          <p:cNvSpPr/>
          <p:nvPr/>
        </p:nvSpPr>
        <p:spPr>
          <a:xfrm>
            <a:off x="548640" y="6537960"/>
            <a:ext cx="320040" cy="27432"/>
          </a:xfrm>
          <a:prstGeom prst="rectangle">
            <a:avLst/>
          </a:prstGeom>
          <a:solidFill>
            <a:srgbClr val="F96167"/>
          </a:solidFill>
          <a:ln/>
        </p:spPr>
      </p:sp>
      <p:sp>
        <p:nvSpPr>
          <p:cNvPr id="14" name="Text 12"/>
          <p:cNvSpPr txBox="1"/>
          <p:nvPr/>
        </p:nvSpPr>
        <p:spPr>
          <a:xfrm>
            <a:off x="960120" y="644652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TalkEx Business  ·  User Manual</a:t>
            </a:r>
            <a:endParaRPr lang="en-US" sz="900" dirty="0"/>
          </a:p>
        </p:txBody>
      </p:sp>
      <p:sp>
        <p:nvSpPr>
          <p:cNvPr id="15" name="Text 13"/>
          <p:cNvSpPr txBox="1"/>
          <p:nvPr/>
        </p:nvSpPr>
        <p:spPr>
          <a:xfrm>
            <a:off x="10607040" y="6446520"/>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 / 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Feature matrix</a:t>
            </a:r>
            <a:endParaRPr lang="en-US" sz="30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indent="0" marL="0">
              <a:buNone/>
            </a:pPr>
            <a:r>
              <a:rPr lang="en-US" sz="1300" b="1" spc="400" kern="0" dirty="0">
                <a:solidFill>
                  <a:srgbClr val="1C7293"/>
                </a:solidFill>
                <a:latin typeface="Calibri" pitchFamily="34" charset="0"/>
                <a:ea typeface="Calibri" pitchFamily="34" charset="-122"/>
                <a:cs typeface="Calibri" pitchFamily="34" charset="-120"/>
              </a:rPr>
              <a:t>THE PLATFORM AT A GLANCE</a:t>
            </a:r>
            <a:endParaRPr lang="en-US" sz="1300" dirty="0"/>
          </a:p>
        </p:txBody>
      </p:sp>
      <p:sp>
        <p:nvSpPr>
          <p:cNvPr id="4" name="Shape 2"/>
          <p:cNvSpPr/>
          <p:nvPr/>
        </p:nvSpPr>
        <p:spPr>
          <a:xfrm>
            <a:off x="548640" y="137160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822960" y="1645920"/>
            <a:ext cx="457200" cy="457200"/>
          </a:xfrm>
          <a:prstGeom prst="ellipse">
            <a:avLst/>
          </a:prstGeom>
          <a:solidFill>
            <a:srgbClr val="F96167"/>
          </a:solidFill>
          <a:ln/>
        </p:spPr>
      </p:sp>
      <p:sp>
        <p:nvSpPr>
          <p:cNvPr id="6" name="Text 4"/>
          <p:cNvSpPr txBox="1"/>
          <p:nvPr/>
        </p:nvSpPr>
        <p:spPr>
          <a:xfrm>
            <a:off x="82296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a:t>
            </a:r>
            <a:endParaRPr lang="en-US" sz="1600" dirty="0"/>
          </a:p>
        </p:txBody>
      </p:sp>
      <p:sp>
        <p:nvSpPr>
          <p:cNvPr id="7" name="Text 5"/>
          <p:cNvSpPr txBox="1"/>
          <p:nvPr/>
        </p:nvSpPr>
        <p:spPr>
          <a:xfrm>
            <a:off x="1417320" y="162763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Auth</a:t>
            </a:r>
            <a:endParaRPr lang="en-US" sz="1700" dirty="0"/>
          </a:p>
        </p:txBody>
      </p:sp>
      <p:sp>
        <p:nvSpPr>
          <p:cNvPr id="8" name="Text 6"/>
          <p:cNvSpPr txBox="1"/>
          <p:nvPr/>
        </p:nvSpPr>
        <p:spPr>
          <a:xfrm>
            <a:off x="868680" y="224028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JWT + refresh rotation, 2FA/TOTP, device sessions, OTP phone/email, OAuth (Google/FB/GitHub/Apple) with CSRF-safe state cookie</a:t>
            </a:r>
            <a:endParaRPr lang="en-US" sz="1200" dirty="0"/>
          </a:p>
        </p:txBody>
      </p:sp>
      <p:sp>
        <p:nvSpPr>
          <p:cNvPr id="9" name="Shape 7"/>
          <p:cNvSpPr/>
          <p:nvPr/>
        </p:nvSpPr>
        <p:spPr>
          <a:xfrm>
            <a:off x="4343400" y="137160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4617720" y="1645920"/>
            <a:ext cx="457200" cy="457200"/>
          </a:xfrm>
          <a:prstGeom prst="ellipse">
            <a:avLst/>
          </a:prstGeom>
          <a:solidFill>
            <a:srgbClr val="F96167"/>
          </a:solidFill>
          <a:ln/>
        </p:spPr>
      </p:sp>
      <p:sp>
        <p:nvSpPr>
          <p:cNvPr id="11" name="Text 9"/>
          <p:cNvSpPr txBox="1"/>
          <p:nvPr/>
        </p:nvSpPr>
        <p:spPr>
          <a:xfrm>
            <a:off x="461772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a:t>
            </a:r>
            <a:endParaRPr lang="en-US" sz="1600" dirty="0"/>
          </a:p>
        </p:txBody>
      </p:sp>
      <p:sp>
        <p:nvSpPr>
          <p:cNvPr id="12" name="Text 10"/>
          <p:cNvSpPr txBox="1"/>
          <p:nvPr/>
        </p:nvSpPr>
        <p:spPr>
          <a:xfrm>
            <a:off x="5212080" y="162763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Channels</a:t>
            </a:r>
            <a:endParaRPr lang="en-US" sz="1700" dirty="0"/>
          </a:p>
        </p:txBody>
      </p:sp>
      <p:sp>
        <p:nvSpPr>
          <p:cNvPr id="13" name="Text 11"/>
          <p:cNvSpPr txBox="1"/>
          <p:nvPr/>
        </p:nvSpPr>
        <p:spPr>
          <a:xfrm>
            <a:off x="4663440" y="224028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8 connectors + Live Chat widget; provider-agnostic messaging engine with queue, DLQ, retry, fallback routing</a:t>
            </a:r>
            <a:endParaRPr lang="en-US" sz="1200" dirty="0"/>
          </a:p>
        </p:txBody>
      </p:sp>
      <p:sp>
        <p:nvSpPr>
          <p:cNvPr id="14" name="Shape 12"/>
          <p:cNvSpPr/>
          <p:nvPr/>
        </p:nvSpPr>
        <p:spPr>
          <a:xfrm>
            <a:off x="8138160" y="137160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5" name="Shape 13"/>
          <p:cNvSpPr/>
          <p:nvPr/>
        </p:nvSpPr>
        <p:spPr>
          <a:xfrm>
            <a:off x="8412480" y="1645920"/>
            <a:ext cx="457200" cy="457200"/>
          </a:xfrm>
          <a:prstGeom prst="ellipse">
            <a:avLst/>
          </a:prstGeom>
          <a:solidFill>
            <a:srgbClr val="F96167"/>
          </a:solidFill>
          <a:ln/>
        </p:spPr>
      </p:sp>
      <p:sp>
        <p:nvSpPr>
          <p:cNvPr id="16" name="Text 14"/>
          <p:cNvSpPr txBox="1"/>
          <p:nvPr/>
        </p:nvSpPr>
        <p:spPr>
          <a:xfrm>
            <a:off x="841248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P</a:t>
            </a:r>
            <a:endParaRPr lang="en-US" sz="1600" dirty="0"/>
          </a:p>
        </p:txBody>
      </p:sp>
      <p:sp>
        <p:nvSpPr>
          <p:cNvPr id="17" name="Text 15"/>
          <p:cNvSpPr txBox="1"/>
          <p:nvPr/>
        </p:nvSpPr>
        <p:spPr>
          <a:xfrm>
            <a:off x="9006840" y="162763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Contacts</a:t>
            </a:r>
            <a:endParaRPr lang="en-US" sz="1700" dirty="0"/>
          </a:p>
        </p:txBody>
      </p:sp>
      <p:sp>
        <p:nvSpPr>
          <p:cNvPr id="18" name="Text 16"/>
          <p:cNvSpPr txBox="1"/>
          <p:nvPr/>
        </p:nvSpPr>
        <p:spPr>
          <a:xfrm>
            <a:off x="8458200" y="224028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CRUD, custom fields, tags, lists/segments, CSV import + export, opt-in tracking, duplicate merge</a:t>
            </a:r>
            <a:endParaRPr lang="en-US" sz="1200" dirty="0"/>
          </a:p>
        </p:txBody>
      </p:sp>
      <p:sp>
        <p:nvSpPr>
          <p:cNvPr id="19" name="Shape 17"/>
          <p:cNvSpPr/>
          <p:nvPr/>
        </p:nvSpPr>
        <p:spPr>
          <a:xfrm>
            <a:off x="548640" y="310896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822960" y="3383280"/>
            <a:ext cx="457200" cy="457200"/>
          </a:xfrm>
          <a:prstGeom prst="ellipse">
            <a:avLst/>
          </a:prstGeom>
          <a:solidFill>
            <a:srgbClr val="F96167"/>
          </a:solidFill>
          <a:ln/>
        </p:spPr>
      </p:sp>
      <p:sp>
        <p:nvSpPr>
          <p:cNvPr id="21" name="Text 19"/>
          <p:cNvSpPr txBox="1"/>
          <p:nvPr/>
        </p:nvSpPr>
        <p:spPr>
          <a:xfrm>
            <a:off x="822960" y="34015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T</a:t>
            </a:r>
            <a:endParaRPr lang="en-US" sz="1600" dirty="0"/>
          </a:p>
        </p:txBody>
      </p:sp>
      <p:sp>
        <p:nvSpPr>
          <p:cNvPr id="22" name="Text 20"/>
          <p:cNvSpPr txBox="1"/>
          <p:nvPr/>
        </p:nvSpPr>
        <p:spPr>
          <a:xfrm>
            <a:off x="1417320" y="336499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Templates</a:t>
            </a:r>
            <a:endParaRPr lang="en-US" sz="1700" dirty="0"/>
          </a:p>
        </p:txBody>
      </p:sp>
      <p:sp>
        <p:nvSpPr>
          <p:cNvPr id="23" name="Text 21"/>
          <p:cNvSpPr txBox="1"/>
          <p:nvPr/>
        </p:nvSpPr>
        <p:spPr>
          <a:xfrm>
            <a:off x="868680" y="397764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Per-channel bodies, {{1}}..{{N}} variables + live preview; WhatsApp interactive templates and Meta submission</a:t>
            </a:r>
            <a:endParaRPr lang="en-US" sz="1200" dirty="0"/>
          </a:p>
        </p:txBody>
      </p:sp>
      <p:sp>
        <p:nvSpPr>
          <p:cNvPr id="24" name="Shape 22"/>
          <p:cNvSpPr/>
          <p:nvPr/>
        </p:nvSpPr>
        <p:spPr>
          <a:xfrm>
            <a:off x="4343400" y="310896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25" name="Shape 23"/>
          <p:cNvSpPr/>
          <p:nvPr/>
        </p:nvSpPr>
        <p:spPr>
          <a:xfrm>
            <a:off x="4617720" y="3383280"/>
            <a:ext cx="457200" cy="457200"/>
          </a:xfrm>
          <a:prstGeom prst="ellipse">
            <a:avLst/>
          </a:prstGeom>
          <a:solidFill>
            <a:srgbClr val="F96167"/>
          </a:solidFill>
          <a:ln/>
        </p:spPr>
      </p:sp>
      <p:sp>
        <p:nvSpPr>
          <p:cNvPr id="26" name="Text 24"/>
          <p:cNvSpPr txBox="1"/>
          <p:nvPr/>
        </p:nvSpPr>
        <p:spPr>
          <a:xfrm>
            <a:off x="4617720" y="34015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B</a:t>
            </a:r>
            <a:endParaRPr lang="en-US" sz="1600" dirty="0"/>
          </a:p>
        </p:txBody>
      </p:sp>
      <p:sp>
        <p:nvSpPr>
          <p:cNvPr id="27" name="Text 25"/>
          <p:cNvSpPr txBox="1"/>
          <p:nvPr/>
        </p:nvSpPr>
        <p:spPr>
          <a:xfrm>
            <a:off x="5212080" y="336499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Campaigns</a:t>
            </a:r>
            <a:endParaRPr lang="en-US" sz="1700" dirty="0"/>
          </a:p>
        </p:txBody>
      </p:sp>
      <p:sp>
        <p:nvSpPr>
          <p:cNvPr id="28" name="Text 26"/>
          <p:cNvSpPr txBox="1"/>
          <p:nvPr/>
        </p:nvSpPr>
        <p:spPr>
          <a:xfrm>
            <a:off x="4663440" y="397764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Wizard, per-contact/list targeting, scheduler, clone, edit drafts, CSV export, maker-checker approval, auto-pause on low wallet</a:t>
            </a:r>
            <a:endParaRPr lang="en-US" sz="1200" dirty="0"/>
          </a:p>
        </p:txBody>
      </p:sp>
      <p:sp>
        <p:nvSpPr>
          <p:cNvPr id="29" name="Shape 27"/>
          <p:cNvSpPr/>
          <p:nvPr/>
        </p:nvSpPr>
        <p:spPr>
          <a:xfrm>
            <a:off x="8138160" y="310896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30" name="Shape 28"/>
          <p:cNvSpPr/>
          <p:nvPr/>
        </p:nvSpPr>
        <p:spPr>
          <a:xfrm>
            <a:off x="8412480" y="3383280"/>
            <a:ext cx="457200" cy="457200"/>
          </a:xfrm>
          <a:prstGeom prst="ellipse">
            <a:avLst/>
          </a:prstGeom>
          <a:solidFill>
            <a:srgbClr val="F96167"/>
          </a:solidFill>
          <a:ln/>
        </p:spPr>
      </p:sp>
      <p:sp>
        <p:nvSpPr>
          <p:cNvPr id="31" name="Text 29"/>
          <p:cNvSpPr txBox="1"/>
          <p:nvPr/>
        </p:nvSpPr>
        <p:spPr>
          <a:xfrm>
            <a:off x="8412480" y="34015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a:t>
            </a:r>
            <a:endParaRPr lang="en-US" sz="1600" dirty="0"/>
          </a:p>
        </p:txBody>
      </p:sp>
      <p:sp>
        <p:nvSpPr>
          <p:cNvPr id="32" name="Text 30"/>
          <p:cNvSpPr txBox="1"/>
          <p:nvPr/>
        </p:nvSpPr>
        <p:spPr>
          <a:xfrm>
            <a:off x="9006840" y="336499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Conversations</a:t>
            </a:r>
            <a:endParaRPr lang="en-US" sz="1700" dirty="0"/>
          </a:p>
        </p:txBody>
      </p:sp>
      <p:sp>
        <p:nvSpPr>
          <p:cNvPr id="33" name="Text 31"/>
          <p:cNvSpPr txBox="1"/>
          <p:nvPr/>
        </p:nvSpPr>
        <p:spPr>
          <a:xfrm>
            <a:off x="8458200" y="397764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Unified inbox, 24h window, labels, agent assign, canned replies, CSAT, AI Assist, search, bulk actions, live SSE updates</a:t>
            </a:r>
            <a:endParaRPr lang="en-US" sz="1200" dirty="0"/>
          </a:p>
        </p:txBody>
      </p:sp>
      <p:sp>
        <p:nvSpPr>
          <p:cNvPr id="34" name="Shape 32"/>
          <p:cNvSpPr/>
          <p:nvPr/>
        </p:nvSpPr>
        <p:spPr>
          <a:xfrm>
            <a:off x="548640" y="6537960"/>
            <a:ext cx="320040" cy="27432"/>
          </a:xfrm>
          <a:prstGeom prst="rectangle">
            <a:avLst/>
          </a:prstGeom>
          <a:solidFill>
            <a:srgbClr val="F96167"/>
          </a:solidFill>
          <a:ln/>
        </p:spPr>
      </p:sp>
      <p:sp>
        <p:nvSpPr>
          <p:cNvPr id="35" name="Text 33"/>
          <p:cNvSpPr txBox="1"/>
          <p:nvPr/>
        </p:nvSpPr>
        <p:spPr>
          <a:xfrm>
            <a:off x="960120" y="644652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TalkEx Business  ·  User Manual</a:t>
            </a:r>
            <a:endParaRPr lang="en-US" sz="900" dirty="0"/>
          </a:p>
        </p:txBody>
      </p:sp>
      <p:sp>
        <p:nvSpPr>
          <p:cNvPr id="36" name="Text 34"/>
          <p:cNvSpPr txBox="1"/>
          <p:nvPr/>
        </p:nvSpPr>
        <p:spPr>
          <a:xfrm>
            <a:off x="10607040" y="6446520"/>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 / 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Feature matrix (continued)</a:t>
            </a:r>
            <a:endParaRPr lang="en-US" sz="30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indent="0" marL="0">
              <a:buNone/>
            </a:pPr>
            <a:r>
              <a:rPr lang="en-US" sz="1300" b="1" spc="400" kern="0" dirty="0">
                <a:solidFill>
                  <a:srgbClr val="1C7293"/>
                </a:solidFill>
                <a:latin typeface="Calibri" pitchFamily="34" charset="0"/>
                <a:ea typeface="Calibri" pitchFamily="34" charset="-122"/>
                <a:cs typeface="Calibri" pitchFamily="34" charset="-120"/>
              </a:rPr>
              <a:t>PLATFORM CAPABILITIES</a:t>
            </a:r>
            <a:endParaRPr lang="en-US" sz="1300" dirty="0"/>
          </a:p>
        </p:txBody>
      </p:sp>
      <p:sp>
        <p:nvSpPr>
          <p:cNvPr id="4" name="Shape 2"/>
          <p:cNvSpPr/>
          <p:nvPr/>
        </p:nvSpPr>
        <p:spPr>
          <a:xfrm>
            <a:off x="548640" y="137160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822960" y="1645920"/>
            <a:ext cx="457200" cy="457200"/>
          </a:xfrm>
          <a:prstGeom prst="ellipse">
            <a:avLst/>
          </a:prstGeom>
          <a:solidFill>
            <a:srgbClr val="F96167"/>
          </a:solidFill>
          <a:ln/>
        </p:spPr>
      </p:sp>
      <p:sp>
        <p:nvSpPr>
          <p:cNvPr id="6" name="Text 4"/>
          <p:cNvSpPr txBox="1"/>
          <p:nvPr/>
        </p:nvSpPr>
        <p:spPr>
          <a:xfrm>
            <a:off x="82296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F</a:t>
            </a:r>
            <a:endParaRPr lang="en-US" sz="1600" dirty="0"/>
          </a:p>
        </p:txBody>
      </p:sp>
      <p:sp>
        <p:nvSpPr>
          <p:cNvPr id="7" name="Text 5"/>
          <p:cNvSpPr txBox="1"/>
          <p:nvPr/>
        </p:nvSpPr>
        <p:spPr>
          <a:xfrm>
            <a:off x="1417320" y="162763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Chatbot Flows</a:t>
            </a:r>
            <a:endParaRPr lang="en-US" sz="1700" dirty="0"/>
          </a:p>
        </p:txBody>
      </p:sp>
      <p:sp>
        <p:nvSpPr>
          <p:cNvPr id="8" name="Text 6"/>
          <p:cNvSpPr txBox="1"/>
          <p:nvPr/>
        </p:nvSpPr>
        <p:spPr>
          <a:xfrm>
            <a:off x="868680" y="224028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Visual multi-step flow builder — send / template / wait / branch / assign / tag / end; keyword triggers; wait sweeper</a:t>
            </a:r>
            <a:endParaRPr lang="en-US" sz="1200" dirty="0"/>
          </a:p>
        </p:txBody>
      </p:sp>
      <p:sp>
        <p:nvSpPr>
          <p:cNvPr id="9" name="Shape 7"/>
          <p:cNvSpPr/>
          <p:nvPr/>
        </p:nvSpPr>
        <p:spPr>
          <a:xfrm>
            <a:off x="4343400" y="137160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4617720" y="1645920"/>
            <a:ext cx="457200" cy="457200"/>
          </a:xfrm>
          <a:prstGeom prst="ellipse">
            <a:avLst/>
          </a:prstGeom>
          <a:solidFill>
            <a:srgbClr val="F96167"/>
          </a:solidFill>
          <a:ln/>
        </p:spPr>
      </p:sp>
      <p:sp>
        <p:nvSpPr>
          <p:cNvPr id="11" name="Text 9"/>
          <p:cNvSpPr txBox="1"/>
          <p:nvPr/>
        </p:nvSpPr>
        <p:spPr>
          <a:xfrm>
            <a:off x="461772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a:t>
            </a:r>
            <a:endParaRPr lang="en-US" sz="1600" dirty="0"/>
          </a:p>
        </p:txBody>
      </p:sp>
      <p:sp>
        <p:nvSpPr>
          <p:cNvPr id="12" name="Text 10"/>
          <p:cNvSpPr txBox="1"/>
          <p:nvPr/>
        </p:nvSpPr>
        <p:spPr>
          <a:xfrm>
            <a:off x="5212080" y="162763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AI Assist</a:t>
            </a:r>
            <a:endParaRPr lang="en-US" sz="1700" dirty="0"/>
          </a:p>
        </p:txBody>
      </p:sp>
      <p:sp>
        <p:nvSpPr>
          <p:cNvPr id="13" name="Text 11"/>
          <p:cNvSpPr txBox="1"/>
          <p:nvPr/>
        </p:nvSpPr>
        <p:spPr>
          <a:xfrm>
            <a:off x="4663440" y="224028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Suggest reply, summarize thread, sentiment tag — Claude Opus 5; dev-mode heuristic fallback when no key</a:t>
            </a:r>
            <a:endParaRPr lang="en-US" sz="1200" dirty="0"/>
          </a:p>
        </p:txBody>
      </p:sp>
      <p:sp>
        <p:nvSpPr>
          <p:cNvPr id="14" name="Shape 12"/>
          <p:cNvSpPr/>
          <p:nvPr/>
        </p:nvSpPr>
        <p:spPr>
          <a:xfrm>
            <a:off x="8138160" y="137160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5" name="Shape 13"/>
          <p:cNvSpPr/>
          <p:nvPr/>
        </p:nvSpPr>
        <p:spPr>
          <a:xfrm>
            <a:off x="8412480" y="1645920"/>
            <a:ext cx="457200" cy="457200"/>
          </a:xfrm>
          <a:prstGeom prst="ellipse">
            <a:avLst/>
          </a:prstGeom>
          <a:solidFill>
            <a:srgbClr val="F96167"/>
          </a:solidFill>
          <a:ln/>
        </p:spPr>
      </p:sp>
      <p:sp>
        <p:nvSpPr>
          <p:cNvPr id="16" name="Text 14"/>
          <p:cNvSpPr txBox="1"/>
          <p:nvPr/>
        </p:nvSpPr>
        <p:spPr>
          <a:xfrm>
            <a:off x="841248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H</a:t>
            </a:r>
            <a:endParaRPr lang="en-US" sz="1600" dirty="0"/>
          </a:p>
        </p:txBody>
      </p:sp>
      <p:sp>
        <p:nvSpPr>
          <p:cNvPr id="17" name="Text 15"/>
          <p:cNvSpPr txBox="1"/>
          <p:nvPr/>
        </p:nvSpPr>
        <p:spPr>
          <a:xfrm>
            <a:off x="9006840" y="162763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Business Hours + SLA</a:t>
            </a:r>
            <a:endParaRPr lang="en-US" sz="1700" dirty="0"/>
          </a:p>
        </p:txBody>
      </p:sp>
      <p:sp>
        <p:nvSpPr>
          <p:cNvPr id="18" name="Text 16"/>
          <p:cNvSpPr txBox="1"/>
          <p:nvPr/>
        </p:nvSpPr>
        <p:spPr>
          <a:xfrm>
            <a:off x="8458200" y="224028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Per-day open/close (tz-aware, overnight windows); auto away-message with 24h dedup; SLA breach notifications + webhook</a:t>
            </a:r>
            <a:endParaRPr lang="en-US" sz="1200" dirty="0"/>
          </a:p>
        </p:txBody>
      </p:sp>
      <p:sp>
        <p:nvSpPr>
          <p:cNvPr id="19" name="Shape 17"/>
          <p:cNvSpPr/>
          <p:nvPr/>
        </p:nvSpPr>
        <p:spPr>
          <a:xfrm>
            <a:off x="548640" y="310896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822960" y="3383280"/>
            <a:ext cx="457200" cy="457200"/>
          </a:xfrm>
          <a:prstGeom prst="ellipse">
            <a:avLst/>
          </a:prstGeom>
          <a:solidFill>
            <a:srgbClr val="F96167"/>
          </a:solidFill>
          <a:ln/>
        </p:spPr>
      </p:sp>
      <p:sp>
        <p:nvSpPr>
          <p:cNvPr id="21" name="Text 19"/>
          <p:cNvSpPr txBox="1"/>
          <p:nvPr/>
        </p:nvSpPr>
        <p:spPr>
          <a:xfrm>
            <a:off x="822960" y="34015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W</a:t>
            </a:r>
            <a:endParaRPr lang="en-US" sz="1600" dirty="0"/>
          </a:p>
        </p:txBody>
      </p:sp>
      <p:sp>
        <p:nvSpPr>
          <p:cNvPr id="22" name="Text 20"/>
          <p:cNvSpPr txBox="1"/>
          <p:nvPr/>
        </p:nvSpPr>
        <p:spPr>
          <a:xfrm>
            <a:off x="1417320" y="336499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Live Chat Widget</a:t>
            </a:r>
            <a:endParaRPr lang="en-US" sz="1700" dirty="0"/>
          </a:p>
        </p:txBody>
      </p:sp>
      <p:sp>
        <p:nvSpPr>
          <p:cNvPr id="23" name="Text 21"/>
          <p:cNvSpPr txBox="1"/>
          <p:nvPr/>
        </p:nvSpPr>
        <p:spPr>
          <a:xfrm>
            <a:off x="868680" y="397764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Single-script embed with per-owner branding; visitor sessions flow into the same inbox</a:t>
            </a:r>
            <a:endParaRPr lang="en-US" sz="1200" dirty="0"/>
          </a:p>
        </p:txBody>
      </p:sp>
      <p:sp>
        <p:nvSpPr>
          <p:cNvPr id="24" name="Shape 22"/>
          <p:cNvSpPr/>
          <p:nvPr/>
        </p:nvSpPr>
        <p:spPr>
          <a:xfrm>
            <a:off x="4343400" y="310896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25" name="Shape 23"/>
          <p:cNvSpPr/>
          <p:nvPr/>
        </p:nvSpPr>
        <p:spPr>
          <a:xfrm>
            <a:off x="4617720" y="3383280"/>
            <a:ext cx="457200" cy="457200"/>
          </a:xfrm>
          <a:prstGeom prst="ellipse">
            <a:avLst/>
          </a:prstGeom>
          <a:solidFill>
            <a:srgbClr val="F96167"/>
          </a:solidFill>
          <a:ln/>
        </p:spPr>
      </p:sp>
      <p:sp>
        <p:nvSpPr>
          <p:cNvPr id="26" name="Text 24"/>
          <p:cNvSpPr txBox="1"/>
          <p:nvPr/>
        </p:nvSpPr>
        <p:spPr>
          <a:xfrm>
            <a:off x="4617720" y="34015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7" name="Text 25"/>
          <p:cNvSpPr txBox="1"/>
          <p:nvPr/>
        </p:nvSpPr>
        <p:spPr>
          <a:xfrm>
            <a:off x="5212080" y="336499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Wallet &amp; Payments</a:t>
            </a:r>
            <a:endParaRPr lang="en-US" sz="1700" dirty="0"/>
          </a:p>
        </p:txBody>
      </p:sp>
      <p:sp>
        <p:nvSpPr>
          <p:cNvPr id="28" name="Text 26"/>
          <p:cNvSpPr txBox="1"/>
          <p:nvPr/>
        </p:nvSpPr>
        <p:spPr>
          <a:xfrm>
            <a:off x="4663440" y="397764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Row-locked ledger with idempotency; Razorpay dev-mode simulation + prod HMAC signature verification</a:t>
            </a:r>
            <a:endParaRPr lang="en-US" sz="1200" dirty="0"/>
          </a:p>
        </p:txBody>
      </p:sp>
      <p:sp>
        <p:nvSpPr>
          <p:cNvPr id="29" name="Shape 27"/>
          <p:cNvSpPr/>
          <p:nvPr/>
        </p:nvSpPr>
        <p:spPr>
          <a:xfrm>
            <a:off x="8138160" y="310896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30" name="Shape 28"/>
          <p:cNvSpPr/>
          <p:nvPr/>
        </p:nvSpPr>
        <p:spPr>
          <a:xfrm>
            <a:off x="8412480" y="3383280"/>
            <a:ext cx="457200" cy="457200"/>
          </a:xfrm>
          <a:prstGeom prst="ellipse">
            <a:avLst/>
          </a:prstGeom>
          <a:solidFill>
            <a:srgbClr val="F96167"/>
          </a:solidFill>
          <a:ln/>
        </p:spPr>
      </p:sp>
      <p:sp>
        <p:nvSpPr>
          <p:cNvPr id="31" name="Text 29"/>
          <p:cNvSpPr txBox="1"/>
          <p:nvPr/>
        </p:nvSpPr>
        <p:spPr>
          <a:xfrm>
            <a:off x="8412480" y="34015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O</a:t>
            </a:r>
            <a:endParaRPr lang="en-US" sz="1600" dirty="0"/>
          </a:p>
        </p:txBody>
      </p:sp>
      <p:sp>
        <p:nvSpPr>
          <p:cNvPr id="32" name="Text 30"/>
          <p:cNvSpPr txBox="1"/>
          <p:nvPr/>
        </p:nvSpPr>
        <p:spPr>
          <a:xfrm>
            <a:off x="9006840" y="336499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Multi-tenancy</a:t>
            </a:r>
            <a:endParaRPr lang="en-US" sz="1700" dirty="0"/>
          </a:p>
        </p:txBody>
      </p:sp>
      <p:sp>
        <p:nvSpPr>
          <p:cNvPr id="33" name="Text 31"/>
          <p:cNvSpPr txBox="1"/>
          <p:nvPr/>
        </p:nvSpPr>
        <p:spPr>
          <a:xfrm>
            <a:off x="8458200" y="397764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Organizations with parent/child hierarchy for the reseller model, seat limits, member roles</a:t>
            </a:r>
            <a:endParaRPr lang="en-US" sz="1200" dirty="0"/>
          </a:p>
        </p:txBody>
      </p:sp>
      <p:sp>
        <p:nvSpPr>
          <p:cNvPr id="34" name="Shape 32"/>
          <p:cNvSpPr/>
          <p:nvPr/>
        </p:nvSpPr>
        <p:spPr>
          <a:xfrm>
            <a:off x="548640" y="6537960"/>
            <a:ext cx="320040" cy="27432"/>
          </a:xfrm>
          <a:prstGeom prst="rectangle">
            <a:avLst/>
          </a:prstGeom>
          <a:solidFill>
            <a:srgbClr val="F96167"/>
          </a:solidFill>
          <a:ln/>
        </p:spPr>
      </p:sp>
      <p:sp>
        <p:nvSpPr>
          <p:cNvPr id="35" name="Text 33"/>
          <p:cNvSpPr txBox="1"/>
          <p:nvPr/>
        </p:nvSpPr>
        <p:spPr>
          <a:xfrm>
            <a:off x="960120" y="644652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TalkEx Business  ·  User Manual</a:t>
            </a:r>
            <a:endParaRPr lang="en-US" sz="900" dirty="0"/>
          </a:p>
        </p:txBody>
      </p:sp>
      <p:sp>
        <p:nvSpPr>
          <p:cNvPr id="36" name="Text 34"/>
          <p:cNvSpPr txBox="1"/>
          <p:nvPr/>
        </p:nvSpPr>
        <p:spPr>
          <a:xfrm>
            <a:off x="10607040" y="6446520"/>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 / 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Feature matrix (continued)</a:t>
            </a:r>
            <a:endParaRPr lang="en-US" sz="30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indent="0" marL="0">
              <a:buNone/>
            </a:pPr>
            <a:r>
              <a:rPr lang="en-US" sz="1300" b="1" spc="400" kern="0" dirty="0">
                <a:solidFill>
                  <a:srgbClr val="1C7293"/>
                </a:solidFill>
                <a:latin typeface="Calibri" pitchFamily="34" charset="0"/>
                <a:ea typeface="Calibri" pitchFamily="34" charset="-122"/>
                <a:cs typeface="Calibri" pitchFamily="34" charset="-120"/>
              </a:rPr>
              <a:t>PLATFORM CAPABILITIES</a:t>
            </a:r>
            <a:endParaRPr lang="en-US" sz="1300" dirty="0"/>
          </a:p>
        </p:txBody>
      </p:sp>
      <p:sp>
        <p:nvSpPr>
          <p:cNvPr id="4" name="Shape 2"/>
          <p:cNvSpPr/>
          <p:nvPr/>
        </p:nvSpPr>
        <p:spPr>
          <a:xfrm>
            <a:off x="548640" y="137160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822960" y="1645920"/>
            <a:ext cx="457200" cy="457200"/>
          </a:xfrm>
          <a:prstGeom prst="ellipse">
            <a:avLst/>
          </a:prstGeom>
          <a:solidFill>
            <a:srgbClr val="F96167"/>
          </a:solidFill>
          <a:ln/>
        </p:spPr>
      </p:sp>
      <p:sp>
        <p:nvSpPr>
          <p:cNvPr id="6" name="Text 4"/>
          <p:cNvSpPr txBox="1"/>
          <p:nvPr/>
        </p:nvSpPr>
        <p:spPr>
          <a:xfrm>
            <a:off x="82296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a:t>
            </a:r>
            <a:endParaRPr lang="en-US" sz="1600" dirty="0"/>
          </a:p>
        </p:txBody>
      </p:sp>
      <p:sp>
        <p:nvSpPr>
          <p:cNvPr id="7" name="Text 5"/>
          <p:cNvSpPr txBox="1"/>
          <p:nvPr/>
        </p:nvSpPr>
        <p:spPr>
          <a:xfrm>
            <a:off x="1417320" y="162763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Compliance</a:t>
            </a:r>
            <a:endParaRPr lang="en-US" sz="1700" dirty="0"/>
          </a:p>
        </p:txBody>
      </p:sp>
      <p:sp>
        <p:nvSpPr>
          <p:cNvPr id="8" name="Text 6"/>
          <p:cNvSpPr txBox="1"/>
          <p:nvPr/>
        </p:nvSpPr>
        <p:spPr>
          <a:xfrm>
            <a:off x="868680" y="224028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DPDP Act 2023 consent records, DSAR workflow (process/complete/reject), processing records log</a:t>
            </a:r>
            <a:endParaRPr lang="en-US" sz="1200" dirty="0"/>
          </a:p>
        </p:txBody>
      </p:sp>
      <p:sp>
        <p:nvSpPr>
          <p:cNvPr id="9" name="Shape 7"/>
          <p:cNvSpPr/>
          <p:nvPr/>
        </p:nvSpPr>
        <p:spPr>
          <a:xfrm>
            <a:off x="4343400" y="137160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4617720" y="1645920"/>
            <a:ext cx="457200" cy="457200"/>
          </a:xfrm>
          <a:prstGeom prst="ellipse">
            <a:avLst/>
          </a:prstGeom>
          <a:solidFill>
            <a:srgbClr val="F96167"/>
          </a:solidFill>
          <a:ln/>
        </p:spPr>
      </p:sp>
      <p:sp>
        <p:nvSpPr>
          <p:cNvPr id="11" name="Text 9"/>
          <p:cNvSpPr txBox="1"/>
          <p:nvPr/>
        </p:nvSpPr>
        <p:spPr>
          <a:xfrm>
            <a:off x="461772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Q</a:t>
            </a:r>
            <a:endParaRPr lang="en-US" sz="1600" dirty="0"/>
          </a:p>
        </p:txBody>
      </p:sp>
      <p:sp>
        <p:nvSpPr>
          <p:cNvPr id="12" name="Text 10"/>
          <p:cNvSpPr txBox="1"/>
          <p:nvPr/>
        </p:nvSpPr>
        <p:spPr>
          <a:xfrm>
            <a:off x="5212080" y="162763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Quality Monitoring</a:t>
            </a:r>
            <a:endParaRPr lang="en-US" sz="1700" dirty="0"/>
          </a:p>
        </p:txBody>
      </p:sp>
      <p:sp>
        <p:nvSpPr>
          <p:cNvPr id="13" name="Text 11"/>
          <p:cNvSpPr txBox="1"/>
          <p:nvPr/>
        </p:nvSpPr>
        <p:spPr>
          <a:xfrm>
            <a:off x="4663440" y="224028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Rolling-window quality tier (Green/Yellow/Red), auto-alerts on Yellow/Red, per-channel health</a:t>
            </a:r>
            <a:endParaRPr lang="en-US" sz="1200" dirty="0"/>
          </a:p>
        </p:txBody>
      </p:sp>
      <p:sp>
        <p:nvSpPr>
          <p:cNvPr id="14" name="Shape 12"/>
          <p:cNvSpPr/>
          <p:nvPr/>
        </p:nvSpPr>
        <p:spPr>
          <a:xfrm>
            <a:off x="8138160" y="137160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5" name="Shape 13"/>
          <p:cNvSpPr/>
          <p:nvPr/>
        </p:nvSpPr>
        <p:spPr>
          <a:xfrm>
            <a:off x="8412480" y="1645920"/>
            <a:ext cx="457200" cy="457200"/>
          </a:xfrm>
          <a:prstGeom prst="ellipse">
            <a:avLst/>
          </a:prstGeom>
          <a:solidFill>
            <a:srgbClr val="F96167"/>
          </a:solidFill>
          <a:ln/>
        </p:spPr>
      </p:sp>
      <p:sp>
        <p:nvSpPr>
          <p:cNvPr id="16" name="Text 14"/>
          <p:cNvSpPr txBox="1"/>
          <p:nvPr/>
        </p:nvSpPr>
        <p:spPr>
          <a:xfrm>
            <a:off x="841248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G</a:t>
            </a:r>
            <a:endParaRPr lang="en-US" sz="1600" dirty="0"/>
          </a:p>
        </p:txBody>
      </p:sp>
      <p:sp>
        <p:nvSpPr>
          <p:cNvPr id="17" name="Text 15"/>
          <p:cNvSpPr txBox="1"/>
          <p:nvPr/>
        </p:nvSpPr>
        <p:spPr>
          <a:xfrm>
            <a:off x="9006840" y="162763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Team</a:t>
            </a:r>
            <a:endParaRPr lang="en-US" sz="1700" dirty="0"/>
          </a:p>
        </p:txBody>
      </p:sp>
      <p:sp>
        <p:nvSpPr>
          <p:cNvPr id="18" name="Text 16"/>
          <p:cNvSpPr txBox="1"/>
          <p:nvPr/>
        </p:nvSpPr>
        <p:spPr>
          <a:xfrm>
            <a:off x="8458200" y="224028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Invite by email, role assignment, activity dashboard (per-agent open, sent, avg CSAT)</a:t>
            </a:r>
            <a:endParaRPr lang="en-US" sz="1200" dirty="0"/>
          </a:p>
        </p:txBody>
      </p:sp>
      <p:sp>
        <p:nvSpPr>
          <p:cNvPr id="19" name="Shape 17"/>
          <p:cNvSpPr/>
          <p:nvPr/>
        </p:nvSpPr>
        <p:spPr>
          <a:xfrm>
            <a:off x="548640" y="310896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822960" y="3383280"/>
            <a:ext cx="457200" cy="457200"/>
          </a:xfrm>
          <a:prstGeom prst="ellipse">
            <a:avLst/>
          </a:prstGeom>
          <a:solidFill>
            <a:srgbClr val="F96167"/>
          </a:solidFill>
          <a:ln/>
        </p:spPr>
      </p:sp>
      <p:sp>
        <p:nvSpPr>
          <p:cNvPr id="21" name="Text 19"/>
          <p:cNvSpPr txBox="1"/>
          <p:nvPr/>
        </p:nvSpPr>
        <p:spPr>
          <a:xfrm>
            <a:off x="822960" y="34015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a:t>
            </a:r>
            <a:endParaRPr lang="en-US" sz="1600" dirty="0"/>
          </a:p>
        </p:txBody>
      </p:sp>
      <p:sp>
        <p:nvSpPr>
          <p:cNvPr id="22" name="Text 20"/>
          <p:cNvSpPr txBox="1"/>
          <p:nvPr/>
        </p:nvSpPr>
        <p:spPr>
          <a:xfrm>
            <a:off x="1417320" y="336499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Developer Portal</a:t>
            </a:r>
            <a:endParaRPr lang="en-US" sz="1700" dirty="0"/>
          </a:p>
        </p:txBody>
      </p:sp>
      <p:sp>
        <p:nvSpPr>
          <p:cNvPr id="23" name="Text 21"/>
          <p:cNvSpPr txBox="1"/>
          <p:nvPr/>
        </p:nvSpPr>
        <p:spPr>
          <a:xfrm>
            <a:off x="868680" y="397764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API key management, in-app playground, `/api-docs`, OpenAPI 3.0 spec, rate limiting, sandbox mode</a:t>
            </a:r>
            <a:endParaRPr lang="en-US" sz="1200" dirty="0"/>
          </a:p>
        </p:txBody>
      </p:sp>
      <p:sp>
        <p:nvSpPr>
          <p:cNvPr id="24" name="Shape 22"/>
          <p:cNvSpPr/>
          <p:nvPr/>
        </p:nvSpPr>
        <p:spPr>
          <a:xfrm>
            <a:off x="4343400" y="310896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25" name="Shape 23"/>
          <p:cNvSpPr/>
          <p:nvPr/>
        </p:nvSpPr>
        <p:spPr>
          <a:xfrm>
            <a:off x="4617720" y="3383280"/>
            <a:ext cx="457200" cy="457200"/>
          </a:xfrm>
          <a:prstGeom prst="ellipse">
            <a:avLst/>
          </a:prstGeom>
          <a:solidFill>
            <a:srgbClr val="F96167"/>
          </a:solidFill>
          <a:ln/>
        </p:spPr>
      </p:sp>
      <p:sp>
        <p:nvSpPr>
          <p:cNvPr id="26" name="Text 24"/>
          <p:cNvSpPr txBox="1"/>
          <p:nvPr/>
        </p:nvSpPr>
        <p:spPr>
          <a:xfrm>
            <a:off x="4617720" y="34015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R</a:t>
            </a:r>
            <a:endParaRPr lang="en-US" sz="1600" dirty="0"/>
          </a:p>
        </p:txBody>
      </p:sp>
      <p:sp>
        <p:nvSpPr>
          <p:cNvPr id="27" name="Text 25"/>
          <p:cNvSpPr txBox="1"/>
          <p:nvPr/>
        </p:nvSpPr>
        <p:spPr>
          <a:xfrm>
            <a:off x="5212080" y="336499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Real-time</a:t>
            </a:r>
            <a:endParaRPr lang="en-US" sz="1700" dirty="0"/>
          </a:p>
        </p:txBody>
      </p:sp>
      <p:sp>
        <p:nvSpPr>
          <p:cNvPr id="28" name="Text 26"/>
          <p:cNvSpPr txBox="1"/>
          <p:nvPr/>
        </p:nvSpPr>
        <p:spPr>
          <a:xfrm>
            <a:off x="4663440" y="397764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Server-Sent Events for inbox + notifications; auto-refresh on JWT expiry; public visitor stream for widget</a:t>
            </a:r>
            <a:endParaRPr lang="en-US" sz="1200" dirty="0"/>
          </a:p>
        </p:txBody>
      </p:sp>
      <p:sp>
        <p:nvSpPr>
          <p:cNvPr id="29" name="Shape 27"/>
          <p:cNvSpPr/>
          <p:nvPr/>
        </p:nvSpPr>
        <p:spPr>
          <a:xfrm>
            <a:off x="8138160" y="310896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30" name="Shape 28"/>
          <p:cNvSpPr/>
          <p:nvPr/>
        </p:nvSpPr>
        <p:spPr>
          <a:xfrm>
            <a:off x="8412480" y="3383280"/>
            <a:ext cx="457200" cy="457200"/>
          </a:xfrm>
          <a:prstGeom prst="ellipse">
            <a:avLst/>
          </a:prstGeom>
          <a:solidFill>
            <a:srgbClr val="F96167"/>
          </a:solidFill>
          <a:ln/>
        </p:spPr>
      </p:sp>
      <p:sp>
        <p:nvSpPr>
          <p:cNvPr id="31" name="Text 29"/>
          <p:cNvSpPr txBox="1"/>
          <p:nvPr/>
        </p:nvSpPr>
        <p:spPr>
          <a:xfrm>
            <a:off x="8412480" y="34015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I</a:t>
            </a:r>
            <a:endParaRPr lang="en-US" sz="1600" dirty="0"/>
          </a:p>
        </p:txBody>
      </p:sp>
      <p:sp>
        <p:nvSpPr>
          <p:cNvPr id="32" name="Text 30"/>
          <p:cNvSpPr txBox="1"/>
          <p:nvPr/>
        </p:nvSpPr>
        <p:spPr>
          <a:xfrm>
            <a:off x="9006840" y="336499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i18n + Docs</a:t>
            </a:r>
            <a:endParaRPr lang="en-US" sz="1700" dirty="0"/>
          </a:p>
        </p:txBody>
      </p:sp>
      <p:sp>
        <p:nvSpPr>
          <p:cNvPr id="33" name="Text 31"/>
          <p:cNvSpPr txBox="1"/>
          <p:nvPr/>
        </p:nvSpPr>
        <p:spPr>
          <a:xfrm>
            <a:off x="8458200" y="397764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react-i18next scaffold (en + hi bundles), Command palette (⌘K), mobile-responsive, dark-mode CSS prep</a:t>
            </a:r>
            <a:endParaRPr lang="en-US" sz="1200" dirty="0"/>
          </a:p>
        </p:txBody>
      </p:sp>
      <p:sp>
        <p:nvSpPr>
          <p:cNvPr id="34" name="Shape 32"/>
          <p:cNvSpPr/>
          <p:nvPr/>
        </p:nvSpPr>
        <p:spPr>
          <a:xfrm>
            <a:off x="548640" y="6537960"/>
            <a:ext cx="320040" cy="27432"/>
          </a:xfrm>
          <a:prstGeom prst="rectangle">
            <a:avLst/>
          </a:prstGeom>
          <a:solidFill>
            <a:srgbClr val="F96167"/>
          </a:solidFill>
          <a:ln/>
        </p:spPr>
      </p:sp>
      <p:sp>
        <p:nvSpPr>
          <p:cNvPr id="35" name="Text 33"/>
          <p:cNvSpPr txBox="1"/>
          <p:nvPr/>
        </p:nvSpPr>
        <p:spPr>
          <a:xfrm>
            <a:off x="960120" y="644652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TalkEx Business  ·  User Manual</a:t>
            </a:r>
            <a:endParaRPr lang="en-US" sz="900" dirty="0"/>
          </a:p>
        </p:txBody>
      </p:sp>
      <p:sp>
        <p:nvSpPr>
          <p:cNvPr id="36" name="Text 34"/>
          <p:cNvSpPr txBox="1"/>
          <p:nvPr/>
        </p:nvSpPr>
        <p:spPr>
          <a:xfrm>
            <a:off x="10607040" y="6446520"/>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 / 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5A82"/>
        </a:solidFill>
      </p:bgPr>
    </p:bg>
    <p:spTree>
      <p:nvGrpSpPr>
        <p:cNvPr id="1" name=""/>
        <p:cNvGrpSpPr/>
        <p:nvPr/>
      </p:nvGrpSpPr>
      <p:grpSpPr>
        <a:xfrm>
          <a:off x="0" y="0"/>
          <a:ext cx="0" cy="0"/>
          <a:chOff x="0" y="0"/>
          <a:chExt cx="0" cy="0"/>
        </a:xfrm>
      </p:grpSpPr>
      <p:sp>
        <p:nvSpPr>
          <p:cNvPr id="2" name="Text 0"/>
          <p:cNvSpPr txBox="1"/>
          <p:nvPr/>
        </p:nvSpPr>
        <p:spPr>
          <a:xfrm>
            <a:off x="640080" y="2377440"/>
            <a:ext cx="4572000" cy="457200"/>
          </a:xfrm>
          <a:prstGeom prst="rect">
            <a:avLst/>
          </a:prstGeom>
          <a:noFill/>
          <a:ln/>
        </p:spPr>
        <p:txBody>
          <a:bodyPr wrap="square" lIns="0" tIns="0" rIns="0" bIns="0" rtlCol="0" anchor="ctr"/>
          <a:lstStyle/>
          <a:p>
            <a:pPr indent="0" marL="0">
              <a:buNone/>
            </a:pPr>
            <a:r>
              <a:rPr lang="en-US" sz="1400" b="1" spc="600" kern="0" dirty="0">
                <a:solidFill>
                  <a:srgbClr val="F96167"/>
                </a:solidFill>
                <a:latin typeface="Calibri" pitchFamily="34" charset="0"/>
                <a:ea typeface="Calibri" pitchFamily="34" charset="-122"/>
                <a:cs typeface="Calibri" pitchFamily="34" charset="-120"/>
              </a:rPr>
              <a:t>01</a:t>
            </a:r>
            <a:endParaRPr lang="en-US" sz="1400" dirty="0"/>
          </a:p>
        </p:txBody>
      </p:sp>
      <p:sp>
        <p:nvSpPr>
          <p:cNvPr id="3" name="Text 1"/>
          <p:cNvSpPr txBox="1"/>
          <p:nvPr/>
        </p:nvSpPr>
        <p:spPr>
          <a:xfrm>
            <a:off x="640080" y="2834640"/>
            <a:ext cx="10972800" cy="18288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Authentication</a:t>
            </a:r>
            <a:endParaRPr lang="en-US" sz="5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Getting into the platform</a:t>
            </a:r>
            <a:endParaRPr lang="en-US" sz="30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indent="0" marL="0">
              <a:buNone/>
            </a:pPr>
            <a:r>
              <a:rPr lang="en-US" sz="1300" b="1" spc="400" kern="0" dirty="0">
                <a:solidFill>
                  <a:srgbClr val="1C7293"/>
                </a:solidFill>
                <a:latin typeface="Calibri" pitchFamily="34" charset="0"/>
                <a:ea typeface="Calibri" pitchFamily="34" charset="-122"/>
                <a:cs typeface="Calibri" pitchFamily="34" charset="-120"/>
              </a:rPr>
              <a:t>REGISTER · LOGIN · MFA · OAUTH</a:t>
            </a:r>
            <a:endParaRPr lang="en-US" sz="1300" dirty="0"/>
          </a:p>
        </p:txBody>
      </p:sp>
      <p:sp>
        <p:nvSpPr>
          <p:cNvPr id="4" name="Shape 2"/>
          <p:cNvSpPr/>
          <p:nvPr/>
        </p:nvSpPr>
        <p:spPr>
          <a:xfrm>
            <a:off x="548640" y="1371600"/>
            <a:ext cx="5486400" cy="2194560"/>
          </a:xfrm>
          <a:prstGeom prst="roundRect">
            <a:avLst>
              <a:gd name="adj" fmla="val 3333"/>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822960" y="1645920"/>
            <a:ext cx="457200" cy="457200"/>
          </a:xfrm>
          <a:prstGeom prst="ellipse">
            <a:avLst/>
          </a:prstGeom>
          <a:solidFill>
            <a:srgbClr val="F96167"/>
          </a:solidFill>
          <a:ln/>
        </p:spPr>
      </p:sp>
      <p:sp>
        <p:nvSpPr>
          <p:cNvPr id="6" name="Text 4"/>
          <p:cNvSpPr txBox="1"/>
          <p:nvPr/>
        </p:nvSpPr>
        <p:spPr>
          <a:xfrm>
            <a:off x="82296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417320" y="162763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Register</a:t>
            </a:r>
            <a:endParaRPr lang="en-US" sz="1700" dirty="0"/>
          </a:p>
        </p:txBody>
      </p:sp>
      <p:sp>
        <p:nvSpPr>
          <p:cNvPr id="8" name="Text 6"/>
          <p:cNvSpPr txBox="1"/>
          <p:nvPr/>
        </p:nvSpPr>
        <p:spPr>
          <a:xfrm>
            <a:off x="868680" y="2240280"/>
            <a:ext cx="4846320" cy="11430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Full name, mobile + OTP, email + OTP, password. OTPs are 6-digit; per-target 30-second cooldown; per-IP 5-per-5-min limit stops SMS-bomb enumeration.</a:t>
            </a:r>
            <a:endParaRPr lang="en-US" sz="1200" dirty="0"/>
          </a:p>
        </p:txBody>
      </p:sp>
      <p:sp>
        <p:nvSpPr>
          <p:cNvPr id="9" name="Shape 7"/>
          <p:cNvSpPr/>
          <p:nvPr/>
        </p:nvSpPr>
        <p:spPr>
          <a:xfrm>
            <a:off x="6309360" y="1371600"/>
            <a:ext cx="5486400" cy="2194560"/>
          </a:xfrm>
          <a:prstGeom prst="roundRect">
            <a:avLst>
              <a:gd name="adj" fmla="val 3333"/>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6583680" y="1645920"/>
            <a:ext cx="457200" cy="457200"/>
          </a:xfrm>
          <a:prstGeom prst="ellipse">
            <a:avLst/>
          </a:prstGeom>
          <a:solidFill>
            <a:srgbClr val="F96167"/>
          </a:solidFill>
          <a:ln/>
        </p:spPr>
      </p:sp>
      <p:sp>
        <p:nvSpPr>
          <p:cNvPr id="11" name="Text 9"/>
          <p:cNvSpPr txBox="1"/>
          <p:nvPr/>
        </p:nvSpPr>
        <p:spPr>
          <a:xfrm>
            <a:off x="658368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7178040" y="162763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Login</a:t>
            </a:r>
            <a:endParaRPr lang="en-US" sz="1700" dirty="0"/>
          </a:p>
        </p:txBody>
      </p:sp>
      <p:sp>
        <p:nvSpPr>
          <p:cNvPr id="13" name="Text 11"/>
          <p:cNvSpPr txBox="1"/>
          <p:nvPr/>
        </p:nvSpPr>
        <p:spPr>
          <a:xfrm>
            <a:off x="6629400" y="2240280"/>
            <a:ext cx="4846320" cy="11430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Email + password issues an access token (15 min) and a refresh token (30 days). Refresh rotation is one-shot — a reused refresh token is rejected.</a:t>
            </a:r>
            <a:endParaRPr lang="en-US" sz="1200" dirty="0"/>
          </a:p>
        </p:txBody>
      </p:sp>
      <p:sp>
        <p:nvSpPr>
          <p:cNvPr id="14" name="Shape 12"/>
          <p:cNvSpPr/>
          <p:nvPr/>
        </p:nvSpPr>
        <p:spPr>
          <a:xfrm>
            <a:off x="548640" y="3657600"/>
            <a:ext cx="5486400" cy="2194560"/>
          </a:xfrm>
          <a:prstGeom prst="roundRect">
            <a:avLst>
              <a:gd name="adj" fmla="val 3333"/>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5" name="Shape 13"/>
          <p:cNvSpPr/>
          <p:nvPr/>
        </p:nvSpPr>
        <p:spPr>
          <a:xfrm>
            <a:off x="822960" y="3931920"/>
            <a:ext cx="457200" cy="457200"/>
          </a:xfrm>
          <a:prstGeom prst="ellipse">
            <a:avLst/>
          </a:prstGeom>
          <a:solidFill>
            <a:srgbClr val="F96167"/>
          </a:solidFill>
          <a:ln/>
        </p:spPr>
      </p:sp>
      <p:sp>
        <p:nvSpPr>
          <p:cNvPr id="16" name="Text 14"/>
          <p:cNvSpPr txBox="1"/>
          <p:nvPr/>
        </p:nvSpPr>
        <p:spPr>
          <a:xfrm>
            <a:off x="822960" y="3950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417320" y="391363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Two-factor &amp; sessions</a:t>
            </a:r>
            <a:endParaRPr lang="en-US" sz="1700" dirty="0"/>
          </a:p>
        </p:txBody>
      </p:sp>
      <p:sp>
        <p:nvSpPr>
          <p:cNvPr id="18" name="Text 16"/>
          <p:cNvSpPr txBox="1"/>
          <p:nvPr/>
        </p:nvSpPr>
        <p:spPr>
          <a:xfrm>
            <a:off x="868680" y="4526280"/>
            <a:ext cx="4846320" cy="11430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TOTP-based 2FA with QR-provisioning URI; per-device session list with individual + revoke-all controls in Settings.</a:t>
            </a:r>
            <a:endParaRPr lang="en-US" sz="1200" dirty="0"/>
          </a:p>
        </p:txBody>
      </p:sp>
      <p:sp>
        <p:nvSpPr>
          <p:cNvPr id="19" name="Shape 17"/>
          <p:cNvSpPr/>
          <p:nvPr/>
        </p:nvSpPr>
        <p:spPr>
          <a:xfrm>
            <a:off x="6309360" y="3657600"/>
            <a:ext cx="5486400" cy="2194560"/>
          </a:xfrm>
          <a:prstGeom prst="roundRect">
            <a:avLst>
              <a:gd name="adj" fmla="val 3333"/>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6583680" y="3931920"/>
            <a:ext cx="457200" cy="457200"/>
          </a:xfrm>
          <a:prstGeom prst="ellipse">
            <a:avLst/>
          </a:prstGeom>
          <a:solidFill>
            <a:srgbClr val="F96167"/>
          </a:solidFill>
          <a:ln/>
        </p:spPr>
      </p:sp>
      <p:sp>
        <p:nvSpPr>
          <p:cNvPr id="21" name="Text 19"/>
          <p:cNvSpPr txBox="1"/>
          <p:nvPr/>
        </p:nvSpPr>
        <p:spPr>
          <a:xfrm>
            <a:off x="6583680" y="3950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7178040" y="391363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OAuth social login</a:t>
            </a:r>
            <a:endParaRPr lang="en-US" sz="1700" dirty="0"/>
          </a:p>
        </p:txBody>
      </p:sp>
      <p:sp>
        <p:nvSpPr>
          <p:cNvPr id="23" name="Text 21"/>
          <p:cNvSpPr txBox="1"/>
          <p:nvPr/>
        </p:nvSpPr>
        <p:spPr>
          <a:xfrm>
            <a:off x="6629400" y="4526280"/>
            <a:ext cx="4846320" cy="11430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Google / Facebook / GitHub / Apple. State pinned in HttpOnly SameSite=Lax cookie, constant-time verify, consumed on match. Dev-mode simulates the redirect flow when provider keys are unset.</a:t>
            </a:r>
            <a:endParaRPr lang="en-US" sz="1200" dirty="0"/>
          </a:p>
        </p:txBody>
      </p:sp>
      <p:sp>
        <p:nvSpPr>
          <p:cNvPr id="24" name="Shape 22"/>
          <p:cNvSpPr/>
          <p:nvPr/>
        </p:nvSpPr>
        <p:spPr>
          <a:xfrm>
            <a:off x="548640" y="6537960"/>
            <a:ext cx="320040" cy="27432"/>
          </a:xfrm>
          <a:prstGeom prst="rectangle">
            <a:avLst/>
          </a:prstGeom>
          <a:solidFill>
            <a:srgbClr val="F96167"/>
          </a:solidFill>
          <a:ln/>
        </p:spPr>
      </p:sp>
      <p:sp>
        <p:nvSpPr>
          <p:cNvPr id="25" name="Text 23"/>
          <p:cNvSpPr txBox="1"/>
          <p:nvPr/>
        </p:nvSpPr>
        <p:spPr>
          <a:xfrm>
            <a:off x="960120" y="644652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TalkEx Business  ·  User Manual</a:t>
            </a:r>
            <a:endParaRPr lang="en-US" sz="900" dirty="0"/>
          </a:p>
        </p:txBody>
      </p:sp>
      <p:sp>
        <p:nvSpPr>
          <p:cNvPr id="26" name="Text 24"/>
          <p:cNvSpPr txBox="1"/>
          <p:nvPr/>
        </p:nvSpPr>
        <p:spPr>
          <a:xfrm>
            <a:off x="10607040" y="6446520"/>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 / 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5A82"/>
        </a:solidFill>
      </p:bgPr>
    </p:bg>
    <p:spTree>
      <p:nvGrpSpPr>
        <p:cNvPr id="1" name=""/>
        <p:cNvGrpSpPr/>
        <p:nvPr/>
      </p:nvGrpSpPr>
      <p:grpSpPr>
        <a:xfrm>
          <a:off x="0" y="0"/>
          <a:ext cx="0" cy="0"/>
          <a:chOff x="0" y="0"/>
          <a:chExt cx="0" cy="0"/>
        </a:xfrm>
      </p:grpSpPr>
      <p:sp>
        <p:nvSpPr>
          <p:cNvPr id="2" name="Text 0"/>
          <p:cNvSpPr txBox="1"/>
          <p:nvPr/>
        </p:nvSpPr>
        <p:spPr>
          <a:xfrm>
            <a:off x="640080" y="2377440"/>
            <a:ext cx="4572000" cy="457200"/>
          </a:xfrm>
          <a:prstGeom prst="rect">
            <a:avLst/>
          </a:prstGeom>
          <a:noFill/>
          <a:ln/>
        </p:spPr>
        <p:txBody>
          <a:bodyPr wrap="square" lIns="0" tIns="0" rIns="0" bIns="0" rtlCol="0" anchor="ctr"/>
          <a:lstStyle/>
          <a:p>
            <a:pPr indent="0" marL="0">
              <a:buNone/>
            </a:pPr>
            <a:r>
              <a:rPr lang="en-US" sz="1400" b="1" spc="600" kern="0" dirty="0">
                <a:solidFill>
                  <a:srgbClr val="F96167"/>
                </a:solidFill>
                <a:latin typeface="Calibri" pitchFamily="34" charset="0"/>
                <a:ea typeface="Calibri" pitchFamily="34" charset="-122"/>
                <a:cs typeface="Calibri" pitchFamily="34" charset="-120"/>
              </a:rPr>
              <a:t>02</a:t>
            </a:r>
            <a:endParaRPr lang="en-US" sz="1400" dirty="0"/>
          </a:p>
        </p:txBody>
      </p:sp>
      <p:sp>
        <p:nvSpPr>
          <p:cNvPr id="3" name="Text 1"/>
          <p:cNvSpPr txBox="1"/>
          <p:nvPr/>
        </p:nvSpPr>
        <p:spPr>
          <a:xfrm>
            <a:off x="640080" y="2834640"/>
            <a:ext cx="10972800" cy="18288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Channels &amp; Messaging Engine</a:t>
            </a:r>
            <a:endParaRPr lang="en-US" sz="5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Eight connectors, one interface</a:t>
            </a:r>
            <a:endParaRPr lang="en-US" sz="30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indent="0" marL="0">
              <a:buNone/>
            </a:pPr>
            <a:r>
              <a:rPr lang="en-US" sz="1300" b="1" spc="400" kern="0" dirty="0">
                <a:solidFill>
                  <a:srgbClr val="1C7293"/>
                </a:solidFill>
                <a:latin typeface="Calibri" pitchFamily="34" charset="0"/>
                <a:ea typeface="Calibri" pitchFamily="34" charset="-122"/>
                <a:cs typeface="Calibri" pitchFamily="34" charset="-120"/>
              </a:rPr>
              <a:t>PROVIDER-AGNOSTIC MESSAGING</a:t>
            </a:r>
            <a:endParaRPr lang="en-US" sz="1300" dirty="0"/>
          </a:p>
        </p:txBody>
      </p:sp>
      <p:sp>
        <p:nvSpPr>
          <p:cNvPr id="4" name="Shape 2"/>
          <p:cNvSpPr/>
          <p:nvPr/>
        </p:nvSpPr>
        <p:spPr>
          <a:xfrm>
            <a:off x="548640" y="1371600"/>
            <a:ext cx="2651760" cy="1188720"/>
          </a:xfrm>
          <a:prstGeom prst="roundRect">
            <a:avLst>
              <a:gd name="adj" fmla="val 6154"/>
            </a:avLst>
          </a:prstGeom>
          <a:solidFill>
            <a:srgbClr val="F0F6FB"/>
          </a:solidFill>
          <a:ln w="6350">
            <a:solidFill>
              <a:srgbClr val="E5E7EB"/>
            </a:solidFill>
            <a:prstDash val="solid"/>
          </a:ln>
        </p:spPr>
      </p:sp>
      <p:sp>
        <p:nvSpPr>
          <p:cNvPr id="5" name="Shape 3"/>
          <p:cNvSpPr/>
          <p:nvPr/>
        </p:nvSpPr>
        <p:spPr>
          <a:xfrm>
            <a:off x="822960" y="1691640"/>
            <a:ext cx="548640" cy="548640"/>
          </a:xfrm>
          <a:prstGeom prst="ellipse">
            <a:avLst/>
          </a:prstGeom>
          <a:solidFill>
            <a:srgbClr val="065A82"/>
          </a:solidFill>
          <a:ln/>
        </p:spPr>
      </p:sp>
      <p:sp>
        <p:nvSpPr>
          <p:cNvPr id="6" name="Text 4"/>
          <p:cNvSpPr txBox="1"/>
          <p:nvPr/>
        </p:nvSpPr>
        <p:spPr>
          <a:xfrm>
            <a:off x="822960" y="171907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T</a:t>
            </a:r>
            <a:endParaRPr lang="en-US" sz="2000" dirty="0"/>
          </a:p>
        </p:txBody>
      </p:sp>
      <p:sp>
        <p:nvSpPr>
          <p:cNvPr id="7" name="Text 5"/>
          <p:cNvSpPr txBox="1"/>
          <p:nvPr/>
        </p:nvSpPr>
        <p:spPr>
          <a:xfrm>
            <a:off x="1463040" y="1691640"/>
            <a:ext cx="1645920" cy="54864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TalkEx</a:t>
            </a:r>
            <a:endParaRPr lang="en-US" sz="1600" dirty="0"/>
          </a:p>
        </p:txBody>
      </p:sp>
      <p:sp>
        <p:nvSpPr>
          <p:cNvPr id="8" name="Shape 6"/>
          <p:cNvSpPr/>
          <p:nvPr/>
        </p:nvSpPr>
        <p:spPr>
          <a:xfrm>
            <a:off x="3337560" y="1371600"/>
            <a:ext cx="2651760" cy="1188720"/>
          </a:xfrm>
          <a:prstGeom prst="roundRect">
            <a:avLst>
              <a:gd name="adj" fmla="val 6154"/>
            </a:avLst>
          </a:prstGeom>
          <a:solidFill>
            <a:srgbClr val="F0F6FB"/>
          </a:solidFill>
          <a:ln w="6350">
            <a:solidFill>
              <a:srgbClr val="E5E7EB"/>
            </a:solidFill>
            <a:prstDash val="solid"/>
          </a:ln>
        </p:spPr>
      </p:sp>
      <p:sp>
        <p:nvSpPr>
          <p:cNvPr id="9" name="Shape 7"/>
          <p:cNvSpPr/>
          <p:nvPr/>
        </p:nvSpPr>
        <p:spPr>
          <a:xfrm>
            <a:off x="3611880" y="1691640"/>
            <a:ext cx="548640" cy="548640"/>
          </a:xfrm>
          <a:prstGeom prst="ellipse">
            <a:avLst/>
          </a:prstGeom>
          <a:solidFill>
            <a:srgbClr val="065A82"/>
          </a:solidFill>
          <a:ln/>
        </p:spPr>
      </p:sp>
      <p:sp>
        <p:nvSpPr>
          <p:cNvPr id="10" name="Text 8"/>
          <p:cNvSpPr txBox="1"/>
          <p:nvPr/>
        </p:nvSpPr>
        <p:spPr>
          <a:xfrm>
            <a:off x="3611880" y="171907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W</a:t>
            </a:r>
            <a:endParaRPr lang="en-US" sz="2000" dirty="0"/>
          </a:p>
        </p:txBody>
      </p:sp>
      <p:sp>
        <p:nvSpPr>
          <p:cNvPr id="11" name="Text 9"/>
          <p:cNvSpPr txBox="1"/>
          <p:nvPr/>
        </p:nvSpPr>
        <p:spPr>
          <a:xfrm>
            <a:off x="4251960" y="1691640"/>
            <a:ext cx="1645920" cy="54864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WhatsApp</a:t>
            </a:r>
            <a:endParaRPr lang="en-US" sz="1600" dirty="0"/>
          </a:p>
        </p:txBody>
      </p:sp>
      <p:sp>
        <p:nvSpPr>
          <p:cNvPr id="12" name="Shape 10"/>
          <p:cNvSpPr/>
          <p:nvPr/>
        </p:nvSpPr>
        <p:spPr>
          <a:xfrm>
            <a:off x="6126480" y="1371600"/>
            <a:ext cx="2651760" cy="1188720"/>
          </a:xfrm>
          <a:prstGeom prst="roundRect">
            <a:avLst>
              <a:gd name="adj" fmla="val 6154"/>
            </a:avLst>
          </a:prstGeom>
          <a:solidFill>
            <a:srgbClr val="F0F6FB"/>
          </a:solidFill>
          <a:ln w="6350">
            <a:solidFill>
              <a:srgbClr val="E5E7EB"/>
            </a:solidFill>
            <a:prstDash val="solid"/>
          </a:ln>
        </p:spPr>
      </p:sp>
      <p:sp>
        <p:nvSpPr>
          <p:cNvPr id="13" name="Shape 11"/>
          <p:cNvSpPr/>
          <p:nvPr/>
        </p:nvSpPr>
        <p:spPr>
          <a:xfrm>
            <a:off x="6400800" y="1691640"/>
            <a:ext cx="548640" cy="548640"/>
          </a:xfrm>
          <a:prstGeom prst="ellipse">
            <a:avLst/>
          </a:prstGeom>
          <a:solidFill>
            <a:srgbClr val="065A82"/>
          </a:solidFill>
          <a:ln/>
        </p:spPr>
      </p:sp>
      <p:sp>
        <p:nvSpPr>
          <p:cNvPr id="14" name="Text 12"/>
          <p:cNvSpPr txBox="1"/>
          <p:nvPr/>
        </p:nvSpPr>
        <p:spPr>
          <a:xfrm>
            <a:off x="6400800" y="171907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T</a:t>
            </a:r>
            <a:endParaRPr lang="en-US" sz="2000" dirty="0"/>
          </a:p>
        </p:txBody>
      </p:sp>
      <p:sp>
        <p:nvSpPr>
          <p:cNvPr id="15" name="Text 13"/>
          <p:cNvSpPr txBox="1"/>
          <p:nvPr/>
        </p:nvSpPr>
        <p:spPr>
          <a:xfrm>
            <a:off x="7040880" y="1691640"/>
            <a:ext cx="1645920" cy="54864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Telegram</a:t>
            </a:r>
            <a:endParaRPr lang="en-US" sz="1600" dirty="0"/>
          </a:p>
        </p:txBody>
      </p:sp>
      <p:sp>
        <p:nvSpPr>
          <p:cNvPr id="16" name="Shape 14"/>
          <p:cNvSpPr/>
          <p:nvPr/>
        </p:nvSpPr>
        <p:spPr>
          <a:xfrm>
            <a:off x="8915400" y="1371600"/>
            <a:ext cx="2651760" cy="1188720"/>
          </a:xfrm>
          <a:prstGeom prst="roundRect">
            <a:avLst>
              <a:gd name="adj" fmla="val 6154"/>
            </a:avLst>
          </a:prstGeom>
          <a:solidFill>
            <a:srgbClr val="F0F6FB"/>
          </a:solidFill>
          <a:ln w="6350">
            <a:solidFill>
              <a:srgbClr val="E5E7EB"/>
            </a:solidFill>
            <a:prstDash val="solid"/>
          </a:ln>
        </p:spPr>
      </p:sp>
      <p:sp>
        <p:nvSpPr>
          <p:cNvPr id="17" name="Shape 15"/>
          <p:cNvSpPr/>
          <p:nvPr/>
        </p:nvSpPr>
        <p:spPr>
          <a:xfrm>
            <a:off x="9189720" y="1691640"/>
            <a:ext cx="548640" cy="548640"/>
          </a:xfrm>
          <a:prstGeom prst="ellipse">
            <a:avLst/>
          </a:prstGeom>
          <a:solidFill>
            <a:srgbClr val="065A82"/>
          </a:solidFill>
          <a:ln/>
        </p:spPr>
      </p:sp>
      <p:sp>
        <p:nvSpPr>
          <p:cNvPr id="18" name="Text 16"/>
          <p:cNvSpPr txBox="1"/>
          <p:nvPr/>
        </p:nvSpPr>
        <p:spPr>
          <a:xfrm>
            <a:off x="9189720" y="171907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S</a:t>
            </a:r>
            <a:endParaRPr lang="en-US" sz="2000" dirty="0"/>
          </a:p>
        </p:txBody>
      </p:sp>
      <p:sp>
        <p:nvSpPr>
          <p:cNvPr id="19" name="Text 17"/>
          <p:cNvSpPr txBox="1"/>
          <p:nvPr/>
        </p:nvSpPr>
        <p:spPr>
          <a:xfrm>
            <a:off x="9829800" y="1691640"/>
            <a:ext cx="1645920" cy="54864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SMS</a:t>
            </a:r>
            <a:endParaRPr lang="en-US" sz="1600" dirty="0"/>
          </a:p>
        </p:txBody>
      </p:sp>
      <p:sp>
        <p:nvSpPr>
          <p:cNvPr id="20" name="Shape 18"/>
          <p:cNvSpPr/>
          <p:nvPr/>
        </p:nvSpPr>
        <p:spPr>
          <a:xfrm>
            <a:off x="548640" y="2743200"/>
            <a:ext cx="2651760" cy="1188720"/>
          </a:xfrm>
          <a:prstGeom prst="roundRect">
            <a:avLst>
              <a:gd name="adj" fmla="val 6154"/>
            </a:avLst>
          </a:prstGeom>
          <a:solidFill>
            <a:srgbClr val="F0F6FB"/>
          </a:solidFill>
          <a:ln w="6350">
            <a:solidFill>
              <a:srgbClr val="E5E7EB"/>
            </a:solidFill>
            <a:prstDash val="solid"/>
          </a:ln>
        </p:spPr>
      </p:sp>
      <p:sp>
        <p:nvSpPr>
          <p:cNvPr id="21" name="Shape 19"/>
          <p:cNvSpPr/>
          <p:nvPr/>
        </p:nvSpPr>
        <p:spPr>
          <a:xfrm>
            <a:off x="822960" y="3063240"/>
            <a:ext cx="548640" cy="548640"/>
          </a:xfrm>
          <a:prstGeom prst="ellipse">
            <a:avLst/>
          </a:prstGeom>
          <a:solidFill>
            <a:srgbClr val="065A82"/>
          </a:solidFill>
          <a:ln/>
        </p:spPr>
      </p:sp>
      <p:sp>
        <p:nvSpPr>
          <p:cNvPr id="22" name="Text 20"/>
          <p:cNvSpPr txBox="1"/>
          <p:nvPr/>
        </p:nvSpPr>
        <p:spPr>
          <a:xfrm>
            <a:off x="822960" y="309067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E</a:t>
            </a:r>
            <a:endParaRPr lang="en-US" sz="2000" dirty="0"/>
          </a:p>
        </p:txBody>
      </p:sp>
      <p:sp>
        <p:nvSpPr>
          <p:cNvPr id="23" name="Text 21"/>
          <p:cNvSpPr txBox="1"/>
          <p:nvPr/>
        </p:nvSpPr>
        <p:spPr>
          <a:xfrm>
            <a:off x="1463040" y="3063240"/>
            <a:ext cx="1645920" cy="54864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Email/SMTP</a:t>
            </a:r>
            <a:endParaRPr lang="en-US" sz="1600" dirty="0"/>
          </a:p>
        </p:txBody>
      </p:sp>
      <p:sp>
        <p:nvSpPr>
          <p:cNvPr id="24" name="Shape 22"/>
          <p:cNvSpPr/>
          <p:nvPr/>
        </p:nvSpPr>
        <p:spPr>
          <a:xfrm>
            <a:off x="3337560" y="2743200"/>
            <a:ext cx="2651760" cy="1188720"/>
          </a:xfrm>
          <a:prstGeom prst="roundRect">
            <a:avLst>
              <a:gd name="adj" fmla="val 6154"/>
            </a:avLst>
          </a:prstGeom>
          <a:solidFill>
            <a:srgbClr val="F0F6FB"/>
          </a:solidFill>
          <a:ln w="6350">
            <a:solidFill>
              <a:srgbClr val="E5E7EB"/>
            </a:solidFill>
            <a:prstDash val="solid"/>
          </a:ln>
        </p:spPr>
      </p:sp>
      <p:sp>
        <p:nvSpPr>
          <p:cNvPr id="25" name="Shape 23"/>
          <p:cNvSpPr/>
          <p:nvPr/>
        </p:nvSpPr>
        <p:spPr>
          <a:xfrm>
            <a:off x="3611880" y="3063240"/>
            <a:ext cx="548640" cy="548640"/>
          </a:xfrm>
          <a:prstGeom prst="ellipse">
            <a:avLst/>
          </a:prstGeom>
          <a:solidFill>
            <a:srgbClr val="065A82"/>
          </a:solidFill>
          <a:ln/>
        </p:spPr>
      </p:sp>
      <p:sp>
        <p:nvSpPr>
          <p:cNvPr id="26" name="Text 24"/>
          <p:cNvSpPr txBox="1"/>
          <p:nvPr/>
        </p:nvSpPr>
        <p:spPr>
          <a:xfrm>
            <a:off x="3611880" y="309067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R</a:t>
            </a:r>
            <a:endParaRPr lang="en-US" sz="2000" dirty="0"/>
          </a:p>
        </p:txBody>
      </p:sp>
      <p:sp>
        <p:nvSpPr>
          <p:cNvPr id="27" name="Text 25"/>
          <p:cNvSpPr txBox="1"/>
          <p:nvPr/>
        </p:nvSpPr>
        <p:spPr>
          <a:xfrm>
            <a:off x="4251960" y="3063240"/>
            <a:ext cx="1645920" cy="54864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RCS</a:t>
            </a:r>
            <a:endParaRPr lang="en-US" sz="1600" dirty="0"/>
          </a:p>
        </p:txBody>
      </p:sp>
      <p:sp>
        <p:nvSpPr>
          <p:cNvPr id="28" name="Shape 26"/>
          <p:cNvSpPr/>
          <p:nvPr/>
        </p:nvSpPr>
        <p:spPr>
          <a:xfrm>
            <a:off x="6126480" y="2743200"/>
            <a:ext cx="2651760" cy="1188720"/>
          </a:xfrm>
          <a:prstGeom prst="roundRect">
            <a:avLst>
              <a:gd name="adj" fmla="val 6154"/>
            </a:avLst>
          </a:prstGeom>
          <a:solidFill>
            <a:srgbClr val="F0F6FB"/>
          </a:solidFill>
          <a:ln w="6350">
            <a:solidFill>
              <a:srgbClr val="E5E7EB"/>
            </a:solidFill>
            <a:prstDash val="solid"/>
          </a:ln>
        </p:spPr>
      </p:sp>
      <p:sp>
        <p:nvSpPr>
          <p:cNvPr id="29" name="Shape 27"/>
          <p:cNvSpPr/>
          <p:nvPr/>
        </p:nvSpPr>
        <p:spPr>
          <a:xfrm>
            <a:off x="6400800" y="3063240"/>
            <a:ext cx="548640" cy="548640"/>
          </a:xfrm>
          <a:prstGeom prst="ellipse">
            <a:avLst/>
          </a:prstGeom>
          <a:solidFill>
            <a:srgbClr val="065A82"/>
          </a:solidFill>
          <a:ln/>
        </p:spPr>
      </p:sp>
      <p:sp>
        <p:nvSpPr>
          <p:cNvPr id="30" name="Text 28"/>
          <p:cNvSpPr txBox="1"/>
          <p:nvPr/>
        </p:nvSpPr>
        <p:spPr>
          <a:xfrm>
            <a:off x="6400800" y="309067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I</a:t>
            </a:r>
            <a:endParaRPr lang="en-US" sz="2000" dirty="0"/>
          </a:p>
        </p:txBody>
      </p:sp>
      <p:sp>
        <p:nvSpPr>
          <p:cNvPr id="31" name="Text 29"/>
          <p:cNvSpPr txBox="1"/>
          <p:nvPr/>
        </p:nvSpPr>
        <p:spPr>
          <a:xfrm>
            <a:off x="7040880" y="3063240"/>
            <a:ext cx="1645920" cy="54864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Instagram</a:t>
            </a:r>
            <a:endParaRPr lang="en-US" sz="1600" dirty="0"/>
          </a:p>
        </p:txBody>
      </p:sp>
      <p:sp>
        <p:nvSpPr>
          <p:cNvPr id="32" name="Shape 30"/>
          <p:cNvSpPr/>
          <p:nvPr/>
        </p:nvSpPr>
        <p:spPr>
          <a:xfrm>
            <a:off x="8915400" y="2743200"/>
            <a:ext cx="2651760" cy="1188720"/>
          </a:xfrm>
          <a:prstGeom prst="roundRect">
            <a:avLst>
              <a:gd name="adj" fmla="val 6154"/>
            </a:avLst>
          </a:prstGeom>
          <a:solidFill>
            <a:srgbClr val="F0F6FB"/>
          </a:solidFill>
          <a:ln w="6350">
            <a:solidFill>
              <a:srgbClr val="E5E7EB"/>
            </a:solidFill>
            <a:prstDash val="solid"/>
          </a:ln>
        </p:spPr>
      </p:sp>
      <p:sp>
        <p:nvSpPr>
          <p:cNvPr id="33" name="Shape 31"/>
          <p:cNvSpPr/>
          <p:nvPr/>
        </p:nvSpPr>
        <p:spPr>
          <a:xfrm>
            <a:off x="9189720" y="3063240"/>
            <a:ext cx="548640" cy="548640"/>
          </a:xfrm>
          <a:prstGeom prst="ellipse">
            <a:avLst/>
          </a:prstGeom>
          <a:solidFill>
            <a:srgbClr val="065A82"/>
          </a:solidFill>
          <a:ln/>
        </p:spPr>
      </p:sp>
      <p:sp>
        <p:nvSpPr>
          <p:cNvPr id="34" name="Text 32"/>
          <p:cNvSpPr txBox="1"/>
          <p:nvPr/>
        </p:nvSpPr>
        <p:spPr>
          <a:xfrm>
            <a:off x="9189720" y="309067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M</a:t>
            </a:r>
            <a:endParaRPr lang="en-US" sz="2000" dirty="0"/>
          </a:p>
        </p:txBody>
      </p:sp>
      <p:sp>
        <p:nvSpPr>
          <p:cNvPr id="35" name="Text 33"/>
          <p:cNvSpPr txBox="1"/>
          <p:nvPr/>
        </p:nvSpPr>
        <p:spPr>
          <a:xfrm>
            <a:off x="9829800" y="3063240"/>
            <a:ext cx="1645920" cy="54864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Messenger</a:t>
            </a:r>
            <a:endParaRPr lang="en-US" sz="1600" dirty="0"/>
          </a:p>
        </p:txBody>
      </p:sp>
      <p:sp>
        <p:nvSpPr>
          <p:cNvPr id="36" name="Shape 34"/>
          <p:cNvSpPr/>
          <p:nvPr/>
        </p:nvSpPr>
        <p:spPr>
          <a:xfrm>
            <a:off x="548640" y="4297680"/>
            <a:ext cx="11064240" cy="1691640"/>
          </a:xfrm>
          <a:prstGeom prst="roundRect">
            <a:avLst>
              <a:gd name="adj" fmla="val 4324"/>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37" name="Shape 35"/>
          <p:cNvSpPr/>
          <p:nvPr/>
        </p:nvSpPr>
        <p:spPr>
          <a:xfrm>
            <a:off x="822960" y="4572000"/>
            <a:ext cx="457200" cy="457200"/>
          </a:xfrm>
          <a:prstGeom prst="ellipse">
            <a:avLst/>
          </a:prstGeom>
          <a:solidFill>
            <a:srgbClr val="F96167"/>
          </a:solidFill>
          <a:ln/>
        </p:spPr>
      </p:sp>
      <p:sp>
        <p:nvSpPr>
          <p:cNvPr id="38" name="Text 36"/>
          <p:cNvSpPr txBox="1"/>
          <p:nvPr/>
        </p:nvSpPr>
        <p:spPr>
          <a:xfrm>
            <a:off x="822960" y="45902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E</a:t>
            </a:r>
            <a:endParaRPr lang="en-US" sz="1600" dirty="0"/>
          </a:p>
        </p:txBody>
      </p:sp>
      <p:sp>
        <p:nvSpPr>
          <p:cNvPr id="39" name="Text 37"/>
          <p:cNvSpPr txBox="1"/>
          <p:nvPr/>
        </p:nvSpPr>
        <p:spPr>
          <a:xfrm>
            <a:off x="1417320" y="4553712"/>
            <a:ext cx="1005840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Messaging engine</a:t>
            </a:r>
            <a:endParaRPr lang="en-US" sz="1700" dirty="0"/>
          </a:p>
        </p:txBody>
      </p:sp>
      <p:sp>
        <p:nvSpPr>
          <p:cNvPr id="40" name="Text 38"/>
          <p:cNvSpPr txBox="1"/>
          <p:nvPr/>
        </p:nvSpPr>
        <p:spPr>
          <a:xfrm>
            <a:off x="868680" y="5166360"/>
            <a:ext cx="1042416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 send routes through a persistent queue with per-priority buckets (transactional &gt; marketing). Failed sends move to a Dead Letter Queue with retry + fallback-channel routing; cost + sell price stamped per message for margin tracking; wallet auto-pause when balance drops below the configured threshold.</a:t>
            </a:r>
            <a:endParaRPr lang="en-US" sz="1200" dirty="0"/>
          </a:p>
        </p:txBody>
      </p:sp>
      <p:sp>
        <p:nvSpPr>
          <p:cNvPr id="41" name="Shape 39"/>
          <p:cNvSpPr/>
          <p:nvPr/>
        </p:nvSpPr>
        <p:spPr>
          <a:xfrm>
            <a:off x="548640" y="6537960"/>
            <a:ext cx="320040" cy="27432"/>
          </a:xfrm>
          <a:prstGeom prst="rectangle">
            <a:avLst/>
          </a:prstGeom>
          <a:solidFill>
            <a:srgbClr val="F96167"/>
          </a:solidFill>
          <a:ln/>
        </p:spPr>
      </p:sp>
      <p:sp>
        <p:nvSpPr>
          <p:cNvPr id="42" name="Text 40"/>
          <p:cNvSpPr txBox="1"/>
          <p:nvPr/>
        </p:nvSpPr>
        <p:spPr>
          <a:xfrm>
            <a:off x="960120" y="644652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TalkEx Business  ·  User Manual</a:t>
            </a:r>
            <a:endParaRPr lang="en-US" sz="900" dirty="0"/>
          </a:p>
        </p:txBody>
      </p:sp>
      <p:sp>
        <p:nvSpPr>
          <p:cNvPr id="43" name="Text 41"/>
          <p:cNvSpPr txBox="1"/>
          <p:nvPr/>
        </p:nvSpPr>
        <p:spPr>
          <a:xfrm>
            <a:off x="10607040" y="6446520"/>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 / 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5A82"/>
        </a:solidFill>
      </p:bgPr>
    </p:bg>
    <p:spTree>
      <p:nvGrpSpPr>
        <p:cNvPr id="1" name=""/>
        <p:cNvGrpSpPr/>
        <p:nvPr/>
      </p:nvGrpSpPr>
      <p:grpSpPr>
        <a:xfrm>
          <a:off x="0" y="0"/>
          <a:ext cx="0" cy="0"/>
          <a:chOff x="0" y="0"/>
          <a:chExt cx="0" cy="0"/>
        </a:xfrm>
      </p:grpSpPr>
      <p:sp>
        <p:nvSpPr>
          <p:cNvPr id="2" name="Text 0"/>
          <p:cNvSpPr txBox="1"/>
          <p:nvPr/>
        </p:nvSpPr>
        <p:spPr>
          <a:xfrm>
            <a:off x="640080" y="2377440"/>
            <a:ext cx="4572000" cy="457200"/>
          </a:xfrm>
          <a:prstGeom prst="rect">
            <a:avLst/>
          </a:prstGeom>
          <a:noFill/>
          <a:ln/>
        </p:spPr>
        <p:txBody>
          <a:bodyPr wrap="square" lIns="0" tIns="0" rIns="0" bIns="0" rtlCol="0" anchor="ctr"/>
          <a:lstStyle/>
          <a:p>
            <a:pPr indent="0" marL="0">
              <a:buNone/>
            </a:pPr>
            <a:r>
              <a:rPr lang="en-US" sz="1400" b="1" spc="600" kern="0" dirty="0">
                <a:solidFill>
                  <a:srgbClr val="F96167"/>
                </a:solidFill>
                <a:latin typeface="Calibri" pitchFamily="34" charset="0"/>
                <a:ea typeface="Calibri" pitchFamily="34" charset="-122"/>
                <a:cs typeface="Calibri" pitchFamily="34" charset="-120"/>
              </a:rPr>
              <a:t>03</a:t>
            </a:r>
            <a:endParaRPr lang="en-US" sz="1400" dirty="0"/>
          </a:p>
        </p:txBody>
      </p:sp>
      <p:sp>
        <p:nvSpPr>
          <p:cNvPr id="3" name="Text 1"/>
          <p:cNvSpPr txBox="1"/>
          <p:nvPr/>
        </p:nvSpPr>
        <p:spPr>
          <a:xfrm>
            <a:off x="640080" y="2834640"/>
            <a:ext cx="10972800" cy="18288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Contacts &amp; Templates</a:t>
            </a:r>
            <a:endParaRPr lang="en-US" sz="5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Contacts</a:t>
            </a:r>
            <a:endParaRPr lang="en-US" sz="30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indent="0" marL="0">
              <a:buNone/>
            </a:pPr>
            <a:r>
              <a:rPr lang="en-US" sz="1300" b="1" spc="400" kern="0" dirty="0">
                <a:solidFill>
                  <a:srgbClr val="1C7293"/>
                </a:solidFill>
                <a:latin typeface="Calibri" pitchFamily="34" charset="0"/>
                <a:ea typeface="Calibri" pitchFamily="34" charset="-122"/>
                <a:cs typeface="Calibri" pitchFamily="34" charset="-120"/>
              </a:rPr>
              <a:t>THE ADDRESS BOOK OF YOUR BUSINESS</a:t>
            </a:r>
            <a:endParaRPr lang="en-US" sz="1300" dirty="0"/>
          </a:p>
        </p:txBody>
      </p:sp>
      <p:sp>
        <p:nvSpPr>
          <p:cNvPr id="4" name="Shape 2"/>
          <p:cNvSpPr/>
          <p:nvPr/>
        </p:nvSpPr>
        <p:spPr>
          <a:xfrm>
            <a:off x="548640" y="1371600"/>
            <a:ext cx="5486400" cy="2103120"/>
          </a:xfrm>
          <a:prstGeom prst="roundRect">
            <a:avLst>
              <a:gd name="adj" fmla="val 3478"/>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822960" y="1645920"/>
            <a:ext cx="457200" cy="457200"/>
          </a:xfrm>
          <a:prstGeom prst="ellipse">
            <a:avLst/>
          </a:prstGeom>
          <a:solidFill>
            <a:srgbClr val="F96167"/>
          </a:solidFill>
          <a:ln/>
        </p:spPr>
      </p:sp>
      <p:sp>
        <p:nvSpPr>
          <p:cNvPr id="6" name="Text 4"/>
          <p:cNvSpPr txBox="1"/>
          <p:nvPr/>
        </p:nvSpPr>
        <p:spPr>
          <a:xfrm>
            <a:off x="82296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a:t>
            </a:r>
            <a:endParaRPr lang="en-US" sz="1600" dirty="0"/>
          </a:p>
        </p:txBody>
      </p:sp>
      <p:sp>
        <p:nvSpPr>
          <p:cNvPr id="7" name="Text 5"/>
          <p:cNvSpPr txBox="1"/>
          <p:nvPr/>
        </p:nvSpPr>
        <p:spPr>
          <a:xfrm>
            <a:off x="1417320" y="162763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CRUD + custom fields</a:t>
            </a:r>
            <a:endParaRPr lang="en-US" sz="1700" dirty="0"/>
          </a:p>
        </p:txBody>
      </p:sp>
      <p:sp>
        <p:nvSpPr>
          <p:cNvPr id="8" name="Text 6"/>
          <p:cNvSpPr txBox="1"/>
          <p:nvPr/>
        </p:nvSpPr>
        <p:spPr>
          <a:xfrm>
            <a:off x="868680" y="2240280"/>
            <a:ext cx="4846320" cy="10515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Standard phone/name/email plus per-owner custom field definitions (text, number, date, dropdown). Every field is server-scoped by owner so tenants can never see each other's data.</a:t>
            </a:r>
            <a:endParaRPr lang="en-US" sz="1200" dirty="0"/>
          </a:p>
        </p:txBody>
      </p:sp>
      <p:sp>
        <p:nvSpPr>
          <p:cNvPr id="9" name="Shape 7"/>
          <p:cNvSpPr/>
          <p:nvPr/>
        </p:nvSpPr>
        <p:spPr>
          <a:xfrm>
            <a:off x="6309360" y="1371600"/>
            <a:ext cx="5486400" cy="2103120"/>
          </a:xfrm>
          <a:prstGeom prst="roundRect">
            <a:avLst>
              <a:gd name="adj" fmla="val 3478"/>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6583680" y="1645920"/>
            <a:ext cx="457200" cy="457200"/>
          </a:xfrm>
          <a:prstGeom prst="ellipse">
            <a:avLst/>
          </a:prstGeom>
          <a:solidFill>
            <a:srgbClr val="F96167"/>
          </a:solidFill>
          <a:ln/>
        </p:spPr>
      </p:sp>
      <p:sp>
        <p:nvSpPr>
          <p:cNvPr id="11" name="Text 9"/>
          <p:cNvSpPr txBox="1"/>
          <p:nvPr/>
        </p:nvSpPr>
        <p:spPr>
          <a:xfrm>
            <a:off x="658368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L</a:t>
            </a:r>
            <a:endParaRPr lang="en-US" sz="1600" dirty="0"/>
          </a:p>
        </p:txBody>
      </p:sp>
      <p:sp>
        <p:nvSpPr>
          <p:cNvPr id="12" name="Text 10"/>
          <p:cNvSpPr txBox="1"/>
          <p:nvPr/>
        </p:nvSpPr>
        <p:spPr>
          <a:xfrm>
            <a:off x="7178040" y="162763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Lists &amp; segments</a:t>
            </a:r>
            <a:endParaRPr lang="en-US" sz="1700" dirty="0"/>
          </a:p>
        </p:txBody>
      </p:sp>
      <p:sp>
        <p:nvSpPr>
          <p:cNvPr id="13" name="Text 11"/>
          <p:cNvSpPr txBox="1"/>
          <p:nvPr/>
        </p:nvSpPr>
        <p:spPr>
          <a:xfrm>
            <a:off x="6629400" y="2240280"/>
            <a:ext cx="4846320" cy="10515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Static contact lists you can enroll contacts into and target campaigns at. Every campaign supports individual + list targeting simultaneously, deduped.</a:t>
            </a:r>
            <a:endParaRPr lang="en-US" sz="1200" dirty="0"/>
          </a:p>
        </p:txBody>
      </p:sp>
      <p:sp>
        <p:nvSpPr>
          <p:cNvPr id="14" name="Shape 12"/>
          <p:cNvSpPr/>
          <p:nvPr/>
        </p:nvSpPr>
        <p:spPr>
          <a:xfrm>
            <a:off x="548640" y="3566160"/>
            <a:ext cx="5486400" cy="2103120"/>
          </a:xfrm>
          <a:prstGeom prst="roundRect">
            <a:avLst>
              <a:gd name="adj" fmla="val 3478"/>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5" name="Shape 13"/>
          <p:cNvSpPr/>
          <p:nvPr/>
        </p:nvSpPr>
        <p:spPr>
          <a:xfrm>
            <a:off x="822960" y="3840480"/>
            <a:ext cx="457200" cy="457200"/>
          </a:xfrm>
          <a:prstGeom prst="ellipse">
            <a:avLst/>
          </a:prstGeom>
          <a:solidFill>
            <a:srgbClr val="F96167"/>
          </a:solidFill>
          <a:ln/>
        </p:spPr>
      </p:sp>
      <p:sp>
        <p:nvSpPr>
          <p:cNvPr id="16" name="Text 14"/>
          <p:cNvSpPr txBox="1"/>
          <p:nvPr/>
        </p:nvSpPr>
        <p:spPr>
          <a:xfrm>
            <a:off x="822960" y="38587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I</a:t>
            </a:r>
            <a:endParaRPr lang="en-US" sz="1600" dirty="0"/>
          </a:p>
        </p:txBody>
      </p:sp>
      <p:sp>
        <p:nvSpPr>
          <p:cNvPr id="17" name="Text 15"/>
          <p:cNvSpPr txBox="1"/>
          <p:nvPr/>
        </p:nvSpPr>
        <p:spPr>
          <a:xfrm>
            <a:off x="1417320" y="382219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CSV import + export</a:t>
            </a:r>
            <a:endParaRPr lang="en-US" sz="1700" dirty="0"/>
          </a:p>
        </p:txBody>
      </p:sp>
      <p:sp>
        <p:nvSpPr>
          <p:cNvPr id="18" name="Text 16"/>
          <p:cNvSpPr txBox="1"/>
          <p:nvPr/>
        </p:nvSpPr>
        <p:spPr>
          <a:xfrm>
            <a:off x="868680" y="4434840"/>
            <a:ext cx="4846320" cy="10515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Bulk-add via CSV upload (per-row validation), and download the entire book with a click. Opt-in status tracked per contact for DPDP compliance.</a:t>
            </a:r>
            <a:endParaRPr lang="en-US" sz="1200" dirty="0"/>
          </a:p>
        </p:txBody>
      </p:sp>
      <p:sp>
        <p:nvSpPr>
          <p:cNvPr id="19" name="Shape 17"/>
          <p:cNvSpPr/>
          <p:nvPr/>
        </p:nvSpPr>
        <p:spPr>
          <a:xfrm>
            <a:off x="6309360" y="3566160"/>
            <a:ext cx="5486400" cy="2103120"/>
          </a:xfrm>
          <a:prstGeom prst="roundRect">
            <a:avLst>
              <a:gd name="adj" fmla="val 3478"/>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6583680" y="3840480"/>
            <a:ext cx="457200" cy="457200"/>
          </a:xfrm>
          <a:prstGeom prst="ellipse">
            <a:avLst/>
          </a:prstGeom>
          <a:solidFill>
            <a:srgbClr val="F96167"/>
          </a:solidFill>
          <a:ln/>
        </p:spPr>
      </p:sp>
      <p:sp>
        <p:nvSpPr>
          <p:cNvPr id="21" name="Text 19"/>
          <p:cNvSpPr txBox="1"/>
          <p:nvPr/>
        </p:nvSpPr>
        <p:spPr>
          <a:xfrm>
            <a:off x="6583680" y="38587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a:t>
            </a:r>
            <a:endParaRPr lang="en-US" sz="1600" dirty="0"/>
          </a:p>
        </p:txBody>
      </p:sp>
      <p:sp>
        <p:nvSpPr>
          <p:cNvPr id="22" name="Text 20"/>
          <p:cNvSpPr txBox="1"/>
          <p:nvPr/>
        </p:nvSpPr>
        <p:spPr>
          <a:xfrm>
            <a:off x="7178040" y="382219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Duplicate merge</a:t>
            </a:r>
            <a:endParaRPr lang="en-US" sz="1700" dirty="0"/>
          </a:p>
        </p:txBody>
      </p:sp>
      <p:sp>
        <p:nvSpPr>
          <p:cNvPr id="23" name="Text 21"/>
          <p:cNvSpPr txBox="1"/>
          <p:nvPr/>
        </p:nvSpPr>
        <p:spPr>
          <a:xfrm>
            <a:off x="6629400" y="4434840"/>
            <a:ext cx="4846320" cy="10515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Fold a duplicate contact into the keep contact — conversations move, tags union, custom fields prefer the keeper. One-click from the row menu.</a:t>
            </a:r>
            <a:endParaRPr lang="en-US" sz="1200" dirty="0"/>
          </a:p>
        </p:txBody>
      </p:sp>
      <p:sp>
        <p:nvSpPr>
          <p:cNvPr id="24" name="Shape 22"/>
          <p:cNvSpPr/>
          <p:nvPr/>
        </p:nvSpPr>
        <p:spPr>
          <a:xfrm>
            <a:off x="548640" y="6537960"/>
            <a:ext cx="320040" cy="27432"/>
          </a:xfrm>
          <a:prstGeom prst="rectangle">
            <a:avLst/>
          </a:prstGeom>
          <a:solidFill>
            <a:srgbClr val="F96167"/>
          </a:solidFill>
          <a:ln/>
        </p:spPr>
      </p:sp>
      <p:sp>
        <p:nvSpPr>
          <p:cNvPr id="25" name="Text 23"/>
          <p:cNvSpPr txBox="1"/>
          <p:nvPr/>
        </p:nvSpPr>
        <p:spPr>
          <a:xfrm>
            <a:off x="960120" y="644652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TalkEx Business  ·  User Manual</a:t>
            </a:r>
            <a:endParaRPr lang="en-US" sz="900" dirty="0"/>
          </a:p>
        </p:txBody>
      </p:sp>
      <p:sp>
        <p:nvSpPr>
          <p:cNvPr id="26" name="Text 24"/>
          <p:cNvSpPr txBox="1"/>
          <p:nvPr/>
        </p:nvSpPr>
        <p:spPr>
          <a:xfrm>
            <a:off x="10607040" y="6446520"/>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 / 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Templates &amp; WhatsApp interactive</a:t>
            </a:r>
            <a:endParaRPr lang="en-US" sz="30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indent="0" marL="0">
              <a:buNone/>
            </a:pPr>
            <a:r>
              <a:rPr lang="en-US" sz="1300" b="1" spc="400" kern="0" dirty="0">
                <a:solidFill>
                  <a:srgbClr val="1C7293"/>
                </a:solidFill>
                <a:latin typeface="Calibri" pitchFamily="34" charset="0"/>
                <a:ea typeface="Calibri" pitchFamily="34" charset="-122"/>
                <a:cs typeface="Calibri" pitchFamily="34" charset="-120"/>
              </a:rPr>
              <a:t>REUSABLE MESSAGE BODIES</a:t>
            </a:r>
            <a:endParaRPr lang="en-US" sz="1300" dirty="0"/>
          </a:p>
        </p:txBody>
      </p:sp>
      <p:sp>
        <p:nvSpPr>
          <p:cNvPr id="4" name="Shape 2"/>
          <p:cNvSpPr/>
          <p:nvPr/>
        </p:nvSpPr>
        <p:spPr>
          <a:xfrm>
            <a:off x="548640" y="1371600"/>
            <a:ext cx="5486400" cy="2011680"/>
          </a:xfrm>
          <a:prstGeom prst="roundRect">
            <a:avLst>
              <a:gd name="adj" fmla="val 3636"/>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822960" y="1645920"/>
            <a:ext cx="457200" cy="457200"/>
          </a:xfrm>
          <a:prstGeom prst="ellipse">
            <a:avLst/>
          </a:prstGeom>
          <a:solidFill>
            <a:srgbClr val="F96167"/>
          </a:solidFill>
          <a:ln/>
        </p:spPr>
      </p:sp>
      <p:sp>
        <p:nvSpPr>
          <p:cNvPr id="6" name="Text 4"/>
          <p:cNvSpPr txBox="1"/>
          <p:nvPr/>
        </p:nvSpPr>
        <p:spPr>
          <a:xfrm>
            <a:off x="82296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1417320" y="162763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Variables + live preview</a:t>
            </a:r>
            <a:endParaRPr lang="en-US" sz="1700" dirty="0"/>
          </a:p>
        </p:txBody>
      </p:sp>
      <p:sp>
        <p:nvSpPr>
          <p:cNvPr id="8" name="Text 6"/>
          <p:cNvSpPr txBox="1"/>
          <p:nvPr/>
        </p:nvSpPr>
        <p:spPr>
          <a:xfrm>
            <a:off x="868680" y="2240280"/>
            <a:ext cx="484632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Body accepts {{1}}, {{2}}, {{3}} … which render via templates.RenderBody() at send time. The editor shows a live chat-bubble preview with the variables highlighted as pill badges.</a:t>
            </a:r>
            <a:endParaRPr lang="en-US" sz="1200" dirty="0"/>
          </a:p>
        </p:txBody>
      </p:sp>
      <p:sp>
        <p:nvSpPr>
          <p:cNvPr id="9" name="Shape 7"/>
          <p:cNvSpPr/>
          <p:nvPr/>
        </p:nvSpPr>
        <p:spPr>
          <a:xfrm>
            <a:off x="6309360" y="1371600"/>
            <a:ext cx="5486400" cy="2011680"/>
          </a:xfrm>
          <a:prstGeom prst="roundRect">
            <a:avLst>
              <a:gd name="adj" fmla="val 3636"/>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6583680" y="1645920"/>
            <a:ext cx="457200" cy="457200"/>
          </a:xfrm>
          <a:prstGeom prst="ellipse">
            <a:avLst/>
          </a:prstGeom>
          <a:solidFill>
            <a:srgbClr val="F96167"/>
          </a:solidFill>
          <a:ln/>
        </p:spPr>
      </p:sp>
      <p:sp>
        <p:nvSpPr>
          <p:cNvPr id="11" name="Text 9"/>
          <p:cNvSpPr txBox="1"/>
          <p:nvPr/>
        </p:nvSpPr>
        <p:spPr>
          <a:xfrm>
            <a:off x="658368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W</a:t>
            </a:r>
            <a:endParaRPr lang="en-US" sz="1600" dirty="0"/>
          </a:p>
        </p:txBody>
      </p:sp>
      <p:sp>
        <p:nvSpPr>
          <p:cNvPr id="12" name="Text 10"/>
          <p:cNvSpPr txBox="1"/>
          <p:nvPr/>
        </p:nvSpPr>
        <p:spPr>
          <a:xfrm>
            <a:off x="7178040" y="162763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WhatsApp interactive</a:t>
            </a:r>
            <a:endParaRPr lang="en-US" sz="1700" dirty="0"/>
          </a:p>
        </p:txBody>
      </p:sp>
      <p:sp>
        <p:nvSpPr>
          <p:cNvPr id="13" name="Text 11"/>
          <p:cNvSpPr txBox="1"/>
          <p:nvPr/>
        </p:nvSpPr>
        <p:spPr>
          <a:xfrm>
            <a:off x="6629400" y="2240280"/>
            <a:ext cx="484632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Up to 3 buttons (quick-reply / URL / phone) OR list-picker rows, plus header (60 char) + footer (60 char) + optional media attachment (image/video/document/audio).</a:t>
            </a:r>
            <a:endParaRPr lang="en-US" sz="1200" dirty="0"/>
          </a:p>
        </p:txBody>
      </p:sp>
      <p:sp>
        <p:nvSpPr>
          <p:cNvPr id="14" name="Shape 12"/>
          <p:cNvSpPr/>
          <p:nvPr/>
        </p:nvSpPr>
        <p:spPr>
          <a:xfrm>
            <a:off x="548640" y="3520440"/>
            <a:ext cx="11247120" cy="2148840"/>
          </a:xfrm>
          <a:prstGeom prst="roundRect">
            <a:avLst>
              <a:gd name="adj" fmla="val 3404"/>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5" name="Shape 13"/>
          <p:cNvSpPr/>
          <p:nvPr/>
        </p:nvSpPr>
        <p:spPr>
          <a:xfrm>
            <a:off x="822960" y="3794760"/>
            <a:ext cx="457200" cy="457200"/>
          </a:xfrm>
          <a:prstGeom prst="ellipse">
            <a:avLst/>
          </a:prstGeom>
          <a:solidFill>
            <a:srgbClr val="F96167"/>
          </a:solidFill>
          <a:ln/>
        </p:spPr>
      </p:sp>
      <p:sp>
        <p:nvSpPr>
          <p:cNvPr id="16" name="Text 14"/>
          <p:cNvSpPr txBox="1"/>
          <p:nvPr/>
        </p:nvSpPr>
        <p:spPr>
          <a:xfrm>
            <a:off x="822960" y="3813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a:t>
            </a:r>
            <a:endParaRPr lang="en-US" sz="1600" dirty="0"/>
          </a:p>
        </p:txBody>
      </p:sp>
      <p:sp>
        <p:nvSpPr>
          <p:cNvPr id="17" name="Text 15"/>
          <p:cNvSpPr txBox="1"/>
          <p:nvPr/>
        </p:nvSpPr>
        <p:spPr>
          <a:xfrm>
            <a:off x="1417320" y="3776472"/>
            <a:ext cx="1024128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Meta approval flow</a:t>
            </a:r>
            <a:endParaRPr lang="en-US" sz="1700" dirty="0"/>
          </a:p>
        </p:txBody>
      </p:sp>
      <p:sp>
        <p:nvSpPr>
          <p:cNvPr id="18" name="Text 16"/>
          <p:cNvSpPr txBox="1"/>
          <p:nvPr/>
        </p:nvSpPr>
        <p:spPr>
          <a:xfrm>
            <a:off x="868680" y="4389120"/>
            <a:ext cx="10607040" cy="10972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Draft templates get a Submit button on the row that posts to graph.facebook.com/&lt;WABA_ID&gt;/message_templates and flips the status to pending_review. Dev mode (no META_WHATSAPP_TOKEN) logs the payload and stamps a fake external_ref so the flow can be exercised locally. External status + reject reason are echoed back for the operator to see.</a:t>
            </a:r>
            <a:endParaRPr lang="en-US" sz="1200" dirty="0"/>
          </a:p>
        </p:txBody>
      </p:sp>
      <p:sp>
        <p:nvSpPr>
          <p:cNvPr id="19" name="Shape 17"/>
          <p:cNvSpPr/>
          <p:nvPr/>
        </p:nvSpPr>
        <p:spPr>
          <a:xfrm>
            <a:off x="548640" y="6537960"/>
            <a:ext cx="320040" cy="27432"/>
          </a:xfrm>
          <a:prstGeom prst="rectangle">
            <a:avLst/>
          </a:prstGeom>
          <a:solidFill>
            <a:srgbClr val="F96167"/>
          </a:solidFill>
          <a:ln/>
        </p:spPr>
      </p:sp>
      <p:sp>
        <p:nvSpPr>
          <p:cNvPr id="20" name="Text 18"/>
          <p:cNvSpPr txBox="1"/>
          <p:nvPr/>
        </p:nvSpPr>
        <p:spPr>
          <a:xfrm>
            <a:off x="960120" y="644652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TalkEx Business  ·  User Manual</a:t>
            </a:r>
            <a:endParaRPr lang="en-US" sz="900" dirty="0"/>
          </a:p>
        </p:txBody>
      </p:sp>
      <p:sp>
        <p:nvSpPr>
          <p:cNvPr id="21" name="Text 19"/>
          <p:cNvSpPr txBox="1"/>
          <p:nvPr/>
        </p:nvSpPr>
        <p:spPr>
          <a:xfrm>
            <a:off x="10607040" y="6446520"/>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 / 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5A82"/>
        </a:solidFill>
      </p:bgPr>
    </p:bg>
    <p:spTree>
      <p:nvGrpSpPr>
        <p:cNvPr id="1" name=""/>
        <p:cNvGrpSpPr/>
        <p:nvPr/>
      </p:nvGrpSpPr>
      <p:grpSpPr>
        <a:xfrm>
          <a:off x="0" y="0"/>
          <a:ext cx="0" cy="0"/>
          <a:chOff x="0" y="0"/>
          <a:chExt cx="0" cy="0"/>
        </a:xfrm>
      </p:grpSpPr>
      <p:sp>
        <p:nvSpPr>
          <p:cNvPr id="2" name="Text 0"/>
          <p:cNvSpPr txBox="1"/>
          <p:nvPr/>
        </p:nvSpPr>
        <p:spPr>
          <a:xfrm>
            <a:off x="640080" y="2377440"/>
            <a:ext cx="4572000" cy="457200"/>
          </a:xfrm>
          <a:prstGeom prst="rect">
            <a:avLst/>
          </a:prstGeom>
          <a:noFill/>
          <a:ln/>
        </p:spPr>
        <p:txBody>
          <a:bodyPr wrap="square" lIns="0" tIns="0" rIns="0" bIns="0" rtlCol="0" anchor="ctr"/>
          <a:lstStyle/>
          <a:p>
            <a:pPr indent="0" marL="0">
              <a:buNone/>
            </a:pPr>
            <a:r>
              <a:rPr lang="en-US" sz="1400" b="1" spc="600" kern="0" dirty="0">
                <a:solidFill>
                  <a:srgbClr val="F96167"/>
                </a:solidFill>
                <a:latin typeface="Calibri" pitchFamily="34" charset="0"/>
                <a:ea typeface="Calibri" pitchFamily="34" charset="-122"/>
                <a:cs typeface="Calibri" pitchFamily="34" charset="-120"/>
              </a:rPr>
              <a:t>04</a:t>
            </a:r>
            <a:endParaRPr lang="en-US" sz="1400" dirty="0"/>
          </a:p>
        </p:txBody>
      </p:sp>
      <p:sp>
        <p:nvSpPr>
          <p:cNvPr id="3" name="Text 1"/>
          <p:cNvSpPr txBox="1"/>
          <p:nvPr/>
        </p:nvSpPr>
        <p:spPr>
          <a:xfrm>
            <a:off x="640080" y="2834640"/>
            <a:ext cx="10972800" cy="18288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Campaigns</a:t>
            </a:r>
            <a:endParaRPr lang="en-US" sz="5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Campaigns end-to-end</a:t>
            </a:r>
            <a:endParaRPr lang="en-US" sz="30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indent="0" marL="0">
              <a:buNone/>
            </a:pPr>
            <a:r>
              <a:rPr lang="en-US" sz="1300" b="1" spc="400" kern="0" dirty="0">
                <a:solidFill>
                  <a:srgbClr val="1C7293"/>
                </a:solidFill>
                <a:latin typeface="Calibri" pitchFamily="34" charset="0"/>
                <a:ea typeface="Calibri" pitchFamily="34" charset="-122"/>
                <a:cs typeface="Calibri" pitchFamily="34" charset="-120"/>
              </a:rPr>
              <a:t>DRAFT · APPROVE · SCHEDULE · LAUNCH</a:t>
            </a:r>
            <a:endParaRPr lang="en-US" sz="1300" dirty="0"/>
          </a:p>
        </p:txBody>
      </p:sp>
      <p:sp>
        <p:nvSpPr>
          <p:cNvPr id="4" name="Shape 2"/>
          <p:cNvSpPr/>
          <p:nvPr/>
        </p:nvSpPr>
        <p:spPr>
          <a:xfrm>
            <a:off x="548640" y="137160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822960" y="1645920"/>
            <a:ext cx="457200" cy="457200"/>
          </a:xfrm>
          <a:prstGeom prst="ellipse">
            <a:avLst/>
          </a:prstGeom>
          <a:solidFill>
            <a:srgbClr val="F96167"/>
          </a:solidFill>
          <a:ln/>
        </p:spPr>
      </p:sp>
      <p:sp>
        <p:nvSpPr>
          <p:cNvPr id="6" name="Text 4"/>
          <p:cNvSpPr txBox="1"/>
          <p:nvPr/>
        </p:nvSpPr>
        <p:spPr>
          <a:xfrm>
            <a:off x="82296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417320" y="162763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Draft</a:t>
            </a:r>
            <a:endParaRPr lang="en-US" sz="1700" dirty="0"/>
          </a:p>
        </p:txBody>
      </p:sp>
      <p:sp>
        <p:nvSpPr>
          <p:cNvPr id="8" name="Text 6"/>
          <p:cNvSpPr txBox="1"/>
          <p:nvPr/>
        </p:nvSpPr>
        <p:spPr>
          <a:xfrm>
            <a:off x="868680" y="224028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Pick channel + template, target individual contacts and/or a list, name the run.</a:t>
            </a:r>
            <a:endParaRPr lang="en-US" sz="1200" dirty="0"/>
          </a:p>
        </p:txBody>
      </p:sp>
      <p:sp>
        <p:nvSpPr>
          <p:cNvPr id="9" name="Shape 7"/>
          <p:cNvSpPr/>
          <p:nvPr/>
        </p:nvSpPr>
        <p:spPr>
          <a:xfrm>
            <a:off x="4343400" y="137160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4617720" y="1645920"/>
            <a:ext cx="457200" cy="457200"/>
          </a:xfrm>
          <a:prstGeom prst="ellipse">
            <a:avLst/>
          </a:prstGeom>
          <a:solidFill>
            <a:srgbClr val="F96167"/>
          </a:solidFill>
          <a:ln/>
        </p:spPr>
      </p:sp>
      <p:sp>
        <p:nvSpPr>
          <p:cNvPr id="11" name="Text 9"/>
          <p:cNvSpPr txBox="1"/>
          <p:nvPr/>
        </p:nvSpPr>
        <p:spPr>
          <a:xfrm>
            <a:off x="461772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5212080" y="162763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Approve</a:t>
            </a:r>
            <a:endParaRPr lang="en-US" sz="1700" dirty="0"/>
          </a:p>
        </p:txBody>
      </p:sp>
      <p:sp>
        <p:nvSpPr>
          <p:cNvPr id="13" name="Text 11"/>
          <p:cNvSpPr txBox="1"/>
          <p:nvPr/>
        </p:nvSpPr>
        <p:spPr>
          <a:xfrm>
            <a:off x="4663440" y="224028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Runs above the SLA threshold enter pending_approval; a second operator approves or rejects with a reason (maker-checker).</a:t>
            </a:r>
            <a:endParaRPr lang="en-US" sz="1200" dirty="0"/>
          </a:p>
        </p:txBody>
      </p:sp>
      <p:sp>
        <p:nvSpPr>
          <p:cNvPr id="14" name="Shape 12"/>
          <p:cNvSpPr/>
          <p:nvPr/>
        </p:nvSpPr>
        <p:spPr>
          <a:xfrm>
            <a:off x="8138160" y="137160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5" name="Shape 13"/>
          <p:cNvSpPr/>
          <p:nvPr/>
        </p:nvSpPr>
        <p:spPr>
          <a:xfrm>
            <a:off x="8412480" y="1645920"/>
            <a:ext cx="457200" cy="457200"/>
          </a:xfrm>
          <a:prstGeom prst="ellipse">
            <a:avLst/>
          </a:prstGeom>
          <a:solidFill>
            <a:srgbClr val="F96167"/>
          </a:solidFill>
          <a:ln/>
        </p:spPr>
      </p:sp>
      <p:sp>
        <p:nvSpPr>
          <p:cNvPr id="16" name="Text 14"/>
          <p:cNvSpPr txBox="1"/>
          <p:nvPr/>
        </p:nvSpPr>
        <p:spPr>
          <a:xfrm>
            <a:off x="841248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9006840" y="162763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Schedule</a:t>
            </a:r>
            <a:endParaRPr lang="en-US" sz="1700" dirty="0"/>
          </a:p>
        </p:txBody>
      </p:sp>
      <p:sp>
        <p:nvSpPr>
          <p:cNvPr id="18" name="Text 16"/>
          <p:cNvSpPr txBox="1"/>
          <p:nvPr/>
        </p:nvSpPr>
        <p:spPr>
          <a:xfrm>
            <a:off x="8458200" y="224028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Optional scheduled_at; a background scheduler ticks every minute and auto-launches when the time arrives.</a:t>
            </a:r>
            <a:endParaRPr lang="en-US" sz="1200" dirty="0"/>
          </a:p>
        </p:txBody>
      </p:sp>
      <p:sp>
        <p:nvSpPr>
          <p:cNvPr id="19" name="Shape 17"/>
          <p:cNvSpPr/>
          <p:nvPr/>
        </p:nvSpPr>
        <p:spPr>
          <a:xfrm>
            <a:off x="548640" y="310896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822960" y="3383280"/>
            <a:ext cx="457200" cy="457200"/>
          </a:xfrm>
          <a:prstGeom prst="ellipse">
            <a:avLst/>
          </a:prstGeom>
          <a:solidFill>
            <a:srgbClr val="F96167"/>
          </a:solidFill>
          <a:ln/>
        </p:spPr>
      </p:sp>
      <p:sp>
        <p:nvSpPr>
          <p:cNvPr id="21" name="Text 19"/>
          <p:cNvSpPr txBox="1"/>
          <p:nvPr/>
        </p:nvSpPr>
        <p:spPr>
          <a:xfrm>
            <a:off x="822960" y="34015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1417320" y="336499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Launch</a:t>
            </a:r>
            <a:endParaRPr lang="en-US" sz="1700" dirty="0"/>
          </a:p>
        </p:txBody>
      </p:sp>
      <p:sp>
        <p:nvSpPr>
          <p:cNvPr id="23" name="Text 21"/>
          <p:cNvSpPr txBox="1"/>
          <p:nvPr/>
        </p:nvSpPr>
        <p:spPr>
          <a:xfrm>
            <a:off x="868680" y="397764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 recipient is enqueued via the messaging engine at the configured priority; per-message status streams live.</a:t>
            </a:r>
            <a:endParaRPr lang="en-US" sz="1200" dirty="0"/>
          </a:p>
        </p:txBody>
      </p:sp>
      <p:sp>
        <p:nvSpPr>
          <p:cNvPr id="24" name="Shape 22"/>
          <p:cNvSpPr/>
          <p:nvPr/>
        </p:nvSpPr>
        <p:spPr>
          <a:xfrm>
            <a:off x="4343400" y="310896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25" name="Shape 23"/>
          <p:cNvSpPr/>
          <p:nvPr/>
        </p:nvSpPr>
        <p:spPr>
          <a:xfrm>
            <a:off x="4617720" y="3383280"/>
            <a:ext cx="457200" cy="457200"/>
          </a:xfrm>
          <a:prstGeom prst="ellipse">
            <a:avLst/>
          </a:prstGeom>
          <a:solidFill>
            <a:srgbClr val="F96167"/>
          </a:solidFill>
          <a:ln/>
        </p:spPr>
      </p:sp>
      <p:sp>
        <p:nvSpPr>
          <p:cNvPr id="26" name="Text 24"/>
          <p:cNvSpPr txBox="1"/>
          <p:nvPr/>
        </p:nvSpPr>
        <p:spPr>
          <a:xfrm>
            <a:off x="4617720" y="34015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7" name="Text 25"/>
          <p:cNvSpPr txBox="1"/>
          <p:nvPr/>
        </p:nvSpPr>
        <p:spPr>
          <a:xfrm>
            <a:off x="5212080" y="336499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Cost roll-up</a:t>
            </a:r>
            <a:endParaRPr lang="en-US" sz="1700" dirty="0"/>
          </a:p>
        </p:txBody>
      </p:sp>
      <p:sp>
        <p:nvSpPr>
          <p:cNvPr id="28" name="Text 26"/>
          <p:cNvSpPr txBox="1"/>
          <p:nvPr/>
        </p:nvSpPr>
        <p:spPr>
          <a:xfrm>
            <a:off x="4663440" y="397764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Cost and sell price aggregate on the campaign row for margin tracking; auto-pauses if the wallet falls below the min balance.</a:t>
            </a:r>
            <a:endParaRPr lang="en-US" sz="1200" dirty="0"/>
          </a:p>
        </p:txBody>
      </p:sp>
      <p:sp>
        <p:nvSpPr>
          <p:cNvPr id="29" name="Shape 27"/>
          <p:cNvSpPr/>
          <p:nvPr/>
        </p:nvSpPr>
        <p:spPr>
          <a:xfrm>
            <a:off x="8138160" y="3108960"/>
            <a:ext cx="3657600" cy="1600200"/>
          </a:xfrm>
          <a:prstGeom prst="roundRect">
            <a:avLst>
              <a:gd name="adj" fmla="val 457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30" name="Shape 28"/>
          <p:cNvSpPr/>
          <p:nvPr/>
        </p:nvSpPr>
        <p:spPr>
          <a:xfrm>
            <a:off x="8412480" y="3383280"/>
            <a:ext cx="457200" cy="457200"/>
          </a:xfrm>
          <a:prstGeom prst="ellipse">
            <a:avLst/>
          </a:prstGeom>
          <a:solidFill>
            <a:srgbClr val="F96167"/>
          </a:solidFill>
          <a:ln/>
        </p:spPr>
      </p:sp>
      <p:sp>
        <p:nvSpPr>
          <p:cNvPr id="31" name="Text 29"/>
          <p:cNvSpPr txBox="1"/>
          <p:nvPr/>
        </p:nvSpPr>
        <p:spPr>
          <a:xfrm>
            <a:off x="8412480" y="34015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2" name="Text 30"/>
          <p:cNvSpPr txBox="1"/>
          <p:nvPr/>
        </p:nvSpPr>
        <p:spPr>
          <a:xfrm>
            <a:off x="9006840" y="336499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Analytics + CSV</a:t>
            </a:r>
            <a:endParaRPr lang="en-US" sz="1700" dirty="0"/>
          </a:p>
        </p:txBody>
      </p:sp>
      <p:sp>
        <p:nvSpPr>
          <p:cNvPr id="33" name="Text 31"/>
          <p:cNvSpPr txBox="1"/>
          <p:nvPr/>
        </p:nvSpPr>
        <p:spPr>
          <a:xfrm>
            <a:off x="8458200" y="3977640"/>
            <a:ext cx="30175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Per-campaign stats view (sent / delivered / read / failed / cost); one-click CSV export of the whole log.</a:t>
            </a:r>
            <a:endParaRPr lang="en-US" sz="1200" dirty="0"/>
          </a:p>
        </p:txBody>
      </p:sp>
      <p:sp>
        <p:nvSpPr>
          <p:cNvPr id="34" name="Shape 32"/>
          <p:cNvSpPr/>
          <p:nvPr/>
        </p:nvSpPr>
        <p:spPr>
          <a:xfrm>
            <a:off x="548640" y="6537960"/>
            <a:ext cx="320040" cy="27432"/>
          </a:xfrm>
          <a:prstGeom prst="rectangle">
            <a:avLst/>
          </a:prstGeom>
          <a:solidFill>
            <a:srgbClr val="F96167"/>
          </a:solidFill>
          <a:ln/>
        </p:spPr>
      </p:sp>
      <p:sp>
        <p:nvSpPr>
          <p:cNvPr id="35" name="Text 33"/>
          <p:cNvSpPr txBox="1"/>
          <p:nvPr/>
        </p:nvSpPr>
        <p:spPr>
          <a:xfrm>
            <a:off x="960120" y="644652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TalkEx Business  ·  User Manual</a:t>
            </a:r>
            <a:endParaRPr lang="en-US" sz="900" dirty="0"/>
          </a:p>
        </p:txBody>
      </p:sp>
      <p:sp>
        <p:nvSpPr>
          <p:cNvPr id="36" name="Text 34"/>
          <p:cNvSpPr txBox="1"/>
          <p:nvPr/>
        </p:nvSpPr>
        <p:spPr>
          <a:xfrm>
            <a:off x="10607040" y="6446520"/>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 / 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5A82"/>
        </a:solidFill>
      </p:bgPr>
    </p:bg>
    <p:spTree>
      <p:nvGrpSpPr>
        <p:cNvPr id="1" name=""/>
        <p:cNvGrpSpPr/>
        <p:nvPr/>
      </p:nvGrpSpPr>
      <p:grpSpPr>
        <a:xfrm>
          <a:off x="0" y="0"/>
          <a:ext cx="0" cy="0"/>
          <a:chOff x="0" y="0"/>
          <a:chExt cx="0" cy="0"/>
        </a:xfrm>
      </p:grpSpPr>
      <p:sp>
        <p:nvSpPr>
          <p:cNvPr id="2" name="Text 0"/>
          <p:cNvSpPr txBox="1"/>
          <p:nvPr/>
        </p:nvSpPr>
        <p:spPr>
          <a:xfrm>
            <a:off x="640080" y="2377440"/>
            <a:ext cx="4572000" cy="457200"/>
          </a:xfrm>
          <a:prstGeom prst="rect">
            <a:avLst/>
          </a:prstGeom>
          <a:noFill/>
          <a:ln/>
        </p:spPr>
        <p:txBody>
          <a:bodyPr wrap="square" lIns="0" tIns="0" rIns="0" bIns="0" rtlCol="0" anchor="ctr"/>
          <a:lstStyle/>
          <a:p>
            <a:pPr indent="0" marL="0">
              <a:buNone/>
            </a:pPr>
            <a:r>
              <a:rPr lang="en-US" sz="1400" b="1" spc="600" kern="0" dirty="0">
                <a:solidFill>
                  <a:srgbClr val="F96167"/>
                </a:solidFill>
                <a:latin typeface="Calibri" pitchFamily="34" charset="0"/>
                <a:ea typeface="Calibri" pitchFamily="34" charset="-122"/>
                <a:cs typeface="Calibri" pitchFamily="34" charset="-120"/>
              </a:rPr>
              <a:t>05</a:t>
            </a:r>
            <a:endParaRPr lang="en-US" sz="1400" dirty="0"/>
          </a:p>
        </p:txBody>
      </p:sp>
      <p:sp>
        <p:nvSpPr>
          <p:cNvPr id="3" name="Text 1"/>
          <p:cNvSpPr txBox="1"/>
          <p:nvPr/>
        </p:nvSpPr>
        <p:spPr>
          <a:xfrm>
            <a:off x="640080" y="2834640"/>
            <a:ext cx="10972800" cy="18288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Conversations &amp; AI Assist</a:t>
            </a:r>
            <a:endParaRPr lang="en-US" sz="5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Conversations — the unified inbox</a:t>
            </a:r>
            <a:endParaRPr lang="en-US" sz="30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indent="0" marL="0">
              <a:buNone/>
            </a:pPr>
            <a:r>
              <a:rPr lang="en-US" sz="1300" b="1" spc="400" kern="0" dirty="0">
                <a:solidFill>
                  <a:srgbClr val="1C7293"/>
                </a:solidFill>
                <a:latin typeface="Calibri" pitchFamily="34" charset="0"/>
                <a:ea typeface="Calibri" pitchFamily="34" charset="-122"/>
                <a:cs typeface="Calibri" pitchFamily="34" charset="-120"/>
              </a:rPr>
              <a:t>AGENT WORKSPACE</a:t>
            </a:r>
            <a:endParaRPr lang="en-US" sz="1300" dirty="0"/>
          </a:p>
        </p:txBody>
      </p:sp>
      <p:sp>
        <p:nvSpPr>
          <p:cNvPr id="4" name="Text 2"/>
          <p:cNvSpPr txBox="1"/>
          <p:nvPr/>
        </p:nvSpPr>
        <p:spPr>
          <a:xfrm>
            <a:off x="548640" y="1417320"/>
            <a:ext cx="5577840" cy="48463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11827"/>
                </a:solidFill>
                <a:latin typeface="Calibri" pitchFamily="34" charset="0"/>
                <a:ea typeface="Calibri" pitchFamily="34" charset="-122"/>
                <a:cs typeface="Calibri" pitchFamily="34" charset="-120"/>
              </a:rPr>
              <a:t>One inbox for all 8 channels + Live Chat visitors — 24-hour session window enforced on WhatsApp.</a:t>
            </a:r>
            <a:endParaRPr lang="en-US" sz="1400" dirty="0"/>
          </a:p>
          <a:p>
            <a:pPr marL="342900" indent="-342900">
              <a:spcAft>
                <a:spcPts val="400"/>
              </a:spcAft>
              <a:buSzPct val="100000"/>
              <a:buChar char="●"/>
            </a:pPr>
            <a:r>
              <a:rPr lang="en-US" sz="1400" dirty="0">
                <a:solidFill>
                  <a:srgbClr val="111827"/>
                </a:solidFill>
                <a:latin typeface="Calibri" pitchFamily="34" charset="0"/>
                <a:ea typeface="Calibri" pitchFamily="34" charset="-122"/>
                <a:cs typeface="Calibri" pitchFamily="34" charset="-120"/>
              </a:rPr>
              <a:t>Labels + agent assignment; live SSE updates so a new inbound appears in every open tab instantly.</a:t>
            </a:r>
            <a:endParaRPr lang="en-US" sz="1400" dirty="0"/>
          </a:p>
          <a:p>
            <a:pPr marL="342900" indent="-342900">
              <a:spcAft>
                <a:spcPts val="400"/>
              </a:spcAft>
              <a:buSzPct val="100000"/>
              <a:buChar char="●"/>
            </a:pPr>
            <a:r>
              <a:rPr lang="en-US" sz="1400" dirty="0">
                <a:solidFill>
                  <a:srgbClr val="111827"/>
                </a:solidFill>
                <a:latin typeface="Calibri" pitchFamily="34" charset="0"/>
                <a:ea typeface="Calibri" pitchFamily="34" charset="-122"/>
                <a:cs typeface="Calibri" pitchFamily="34" charset="-120"/>
              </a:rPr>
              <a:t>Search across contact name/phone/labels AND every message body.</a:t>
            </a:r>
            <a:endParaRPr lang="en-US" sz="1400" dirty="0"/>
          </a:p>
          <a:p>
            <a:pPr marL="342900" indent="-342900">
              <a:spcAft>
                <a:spcPts val="400"/>
              </a:spcAft>
              <a:buSzPct val="100000"/>
              <a:buChar char="●"/>
            </a:pPr>
            <a:r>
              <a:rPr lang="en-US" sz="1400" dirty="0">
                <a:solidFill>
                  <a:srgbClr val="111827"/>
                </a:solidFill>
                <a:latin typeface="Calibri" pitchFamily="34" charset="0"/>
                <a:ea typeface="Calibri" pitchFamily="34" charset="-122"/>
                <a:cs typeface="Calibri" pitchFamily="34" charset="-120"/>
              </a:rPr>
              <a:t>Bulk-select checkboxes + a toolbar for bulk assign and bulk mark-read.</a:t>
            </a:r>
            <a:endParaRPr lang="en-US" sz="1400" dirty="0"/>
          </a:p>
          <a:p>
            <a:pPr marL="342900" indent="-342900">
              <a:spcAft>
                <a:spcPts val="400"/>
              </a:spcAft>
              <a:buSzPct val="100000"/>
              <a:buChar char="●"/>
            </a:pPr>
            <a:r>
              <a:rPr lang="en-US" sz="1400" dirty="0">
                <a:solidFill>
                  <a:srgbClr val="111827"/>
                </a:solidFill>
                <a:latin typeface="Calibri" pitchFamily="34" charset="0"/>
                <a:ea typeface="Calibri" pitchFamily="34" charset="-122"/>
                <a:cs typeface="Calibri" pitchFamily="34" charset="-120"/>
              </a:rPr>
              <a:t>Canned replies via the / picker or the ⚡ button (keyboard-navigable, usage-count sorted).</a:t>
            </a:r>
            <a:endParaRPr lang="en-US" sz="1400" dirty="0"/>
          </a:p>
          <a:p>
            <a:pPr marL="342900" indent="-342900">
              <a:spcAft>
                <a:spcPts val="400"/>
              </a:spcAft>
              <a:buSzPct val="100000"/>
              <a:buChar char="●"/>
            </a:pPr>
            <a:r>
              <a:rPr lang="en-US" sz="1400" dirty="0">
                <a:solidFill>
                  <a:srgbClr val="111827"/>
                </a:solidFill>
                <a:latin typeface="Calibri" pitchFamily="34" charset="0"/>
                <a:ea typeface="Calibri" pitchFamily="34" charset="-122"/>
                <a:cs typeface="Calibri" pitchFamily="34" charset="-120"/>
              </a:rPr>
              <a:t>CSAT rating captured post-conversation, feeding the Team Activity dashboard.</a:t>
            </a:r>
            <a:endParaRPr lang="en-US" sz="1400" dirty="0"/>
          </a:p>
          <a:p>
            <a:pPr marL="342900" indent="-342900">
              <a:spcAft>
                <a:spcPts val="400"/>
              </a:spcAft>
              <a:buSzPct val="100000"/>
              <a:buChar char="●"/>
            </a:pPr>
            <a:r>
              <a:rPr lang="en-US" sz="1400" dirty="0">
                <a:solidFill>
                  <a:srgbClr val="111827"/>
                </a:solidFill>
                <a:latin typeface="Calibri" pitchFamily="34" charset="0"/>
                <a:ea typeface="Calibri" pitchFamily="34" charset="-122"/>
                <a:cs typeface="Calibri" pitchFamily="34" charset="-120"/>
              </a:rPr>
              <a:t>AI Assist panel — Suggest reply / Summarize / Sentiment on the current thread.</a:t>
            </a:r>
            <a:endParaRPr lang="en-US" sz="1400" dirty="0"/>
          </a:p>
        </p:txBody>
      </p:sp>
      <p:sp>
        <p:nvSpPr>
          <p:cNvPr id="5" name="Shape 3"/>
          <p:cNvSpPr/>
          <p:nvPr/>
        </p:nvSpPr>
        <p:spPr>
          <a:xfrm>
            <a:off x="6309360" y="1417320"/>
            <a:ext cx="5486400" cy="4846320"/>
          </a:xfrm>
          <a:prstGeom prst="roundRect">
            <a:avLst>
              <a:gd name="adj" fmla="val 1509"/>
            </a:avLst>
          </a:prstGeom>
          <a:solidFill>
            <a:srgbClr val="21295C"/>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6583680" y="1691640"/>
            <a:ext cx="457200" cy="457200"/>
          </a:xfrm>
          <a:prstGeom prst="ellipse">
            <a:avLst/>
          </a:prstGeom>
          <a:solidFill>
            <a:srgbClr val="F96167"/>
          </a:solidFill>
          <a:ln/>
        </p:spPr>
      </p:sp>
      <p:sp>
        <p:nvSpPr>
          <p:cNvPr id="7" name="Text 5"/>
          <p:cNvSpPr txBox="1"/>
          <p:nvPr/>
        </p:nvSpPr>
        <p:spPr>
          <a:xfrm>
            <a:off x="6583680" y="17099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8" name="Text 6"/>
          <p:cNvSpPr txBox="1"/>
          <p:nvPr/>
        </p:nvSpPr>
        <p:spPr>
          <a:xfrm>
            <a:off x="7178040" y="1673352"/>
            <a:ext cx="44805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What agents love</a:t>
            </a:r>
            <a:endParaRPr lang="en-US" sz="1700" dirty="0"/>
          </a:p>
        </p:txBody>
      </p:sp>
      <p:sp>
        <p:nvSpPr>
          <p:cNvPr id="9" name="Text 7"/>
          <p:cNvSpPr txBox="1"/>
          <p:nvPr/>
        </p:nvSpPr>
        <p:spPr>
          <a:xfrm>
            <a:off x="6629400" y="2286000"/>
            <a:ext cx="4846320" cy="379476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The inbox never sits stale. New inbound → SSE fires → your row lights up + the thread appends live. Type "/" to search the canned library. Click ✨ to pull a Claude-suggested reply with one click. Click ⭐ to log a CSAT rating that lands on the Team Activity board within seconds.</a:t>
            </a:r>
            <a:endParaRPr lang="en-US" sz="1200" dirty="0"/>
          </a:p>
        </p:txBody>
      </p:sp>
      <p:sp>
        <p:nvSpPr>
          <p:cNvPr id="10" name="Shape 8"/>
          <p:cNvSpPr/>
          <p:nvPr/>
        </p:nvSpPr>
        <p:spPr>
          <a:xfrm>
            <a:off x="548640" y="6537960"/>
            <a:ext cx="320040" cy="27432"/>
          </a:xfrm>
          <a:prstGeom prst="rectangle">
            <a:avLst/>
          </a:prstGeom>
          <a:solidFill>
            <a:srgbClr val="F96167"/>
          </a:solidFill>
          <a:ln/>
        </p:spPr>
      </p:sp>
      <p:sp>
        <p:nvSpPr>
          <p:cNvPr id="11" name="Text 9"/>
          <p:cNvSpPr txBox="1"/>
          <p:nvPr/>
        </p:nvSpPr>
        <p:spPr>
          <a:xfrm>
            <a:off x="960120" y="644652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TalkEx Business  ·  User Manual</a:t>
            </a:r>
            <a:endParaRPr lang="en-US" sz="900" dirty="0"/>
          </a:p>
        </p:txBody>
      </p:sp>
      <p:sp>
        <p:nvSpPr>
          <p:cNvPr id="12" name="Text 10"/>
          <p:cNvSpPr txBox="1"/>
          <p:nvPr/>
        </p:nvSpPr>
        <p:spPr>
          <a:xfrm>
            <a:off x="10607040" y="6446520"/>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 / 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AI Assist — Claude in the inbox</a:t>
            </a:r>
            <a:endParaRPr lang="en-US" sz="30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indent="0" marL="0">
              <a:buNone/>
            </a:pPr>
            <a:r>
              <a:rPr lang="en-US" sz="1300" b="1" spc="400" kern="0" dirty="0">
                <a:solidFill>
                  <a:srgbClr val="1C7293"/>
                </a:solidFill>
                <a:latin typeface="Calibri" pitchFamily="34" charset="0"/>
                <a:ea typeface="Calibri" pitchFamily="34" charset="-122"/>
                <a:cs typeface="Calibri" pitchFamily="34" charset="-120"/>
              </a:rPr>
              <a:t>REPLY · SUMMARIZE · SENTIMENT</a:t>
            </a:r>
            <a:endParaRPr lang="en-US" sz="1300" dirty="0"/>
          </a:p>
        </p:txBody>
      </p:sp>
      <p:sp>
        <p:nvSpPr>
          <p:cNvPr id="4" name="Shape 2"/>
          <p:cNvSpPr/>
          <p:nvPr/>
        </p:nvSpPr>
        <p:spPr>
          <a:xfrm>
            <a:off x="548640" y="1371600"/>
            <a:ext cx="3657600" cy="2194560"/>
          </a:xfrm>
          <a:prstGeom prst="roundRect">
            <a:avLst>
              <a:gd name="adj" fmla="val 3333"/>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822960" y="1645920"/>
            <a:ext cx="457200" cy="457200"/>
          </a:xfrm>
          <a:prstGeom prst="ellipse">
            <a:avLst/>
          </a:prstGeom>
          <a:solidFill>
            <a:srgbClr val="F96167"/>
          </a:solidFill>
          <a:ln/>
        </p:spPr>
      </p:sp>
      <p:sp>
        <p:nvSpPr>
          <p:cNvPr id="6" name="Text 4"/>
          <p:cNvSpPr txBox="1"/>
          <p:nvPr/>
        </p:nvSpPr>
        <p:spPr>
          <a:xfrm>
            <a:off x="82296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R</a:t>
            </a:r>
            <a:endParaRPr lang="en-US" sz="1600" dirty="0"/>
          </a:p>
        </p:txBody>
      </p:sp>
      <p:sp>
        <p:nvSpPr>
          <p:cNvPr id="7" name="Text 5"/>
          <p:cNvSpPr txBox="1"/>
          <p:nvPr/>
        </p:nvSpPr>
        <p:spPr>
          <a:xfrm>
            <a:off x="1417320" y="162763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Suggest reply</a:t>
            </a:r>
            <a:endParaRPr lang="en-US" sz="1700" dirty="0"/>
          </a:p>
        </p:txBody>
      </p:sp>
      <p:sp>
        <p:nvSpPr>
          <p:cNvPr id="8" name="Text 6"/>
          <p:cNvSpPr txBox="1"/>
          <p:nvPr/>
        </p:nvSpPr>
        <p:spPr>
          <a:xfrm>
            <a:off x="868680" y="2240280"/>
            <a:ext cx="3017520" cy="11430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Reads the last 30 messages and drafts one concise, professional reply. Insert into the send box with one click; edit before sending.</a:t>
            </a:r>
            <a:endParaRPr lang="en-US" sz="1200" dirty="0"/>
          </a:p>
        </p:txBody>
      </p:sp>
      <p:sp>
        <p:nvSpPr>
          <p:cNvPr id="9" name="Shape 7"/>
          <p:cNvSpPr/>
          <p:nvPr/>
        </p:nvSpPr>
        <p:spPr>
          <a:xfrm>
            <a:off x="4343400" y="1371600"/>
            <a:ext cx="3657600" cy="2194560"/>
          </a:xfrm>
          <a:prstGeom prst="roundRect">
            <a:avLst>
              <a:gd name="adj" fmla="val 3333"/>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4617720" y="1645920"/>
            <a:ext cx="457200" cy="457200"/>
          </a:xfrm>
          <a:prstGeom prst="ellipse">
            <a:avLst/>
          </a:prstGeom>
          <a:solidFill>
            <a:srgbClr val="F96167"/>
          </a:solidFill>
          <a:ln/>
        </p:spPr>
      </p:sp>
      <p:sp>
        <p:nvSpPr>
          <p:cNvPr id="11" name="Text 9"/>
          <p:cNvSpPr txBox="1"/>
          <p:nvPr/>
        </p:nvSpPr>
        <p:spPr>
          <a:xfrm>
            <a:off x="461772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a:t>
            </a:r>
            <a:endParaRPr lang="en-US" sz="1600" dirty="0"/>
          </a:p>
        </p:txBody>
      </p:sp>
      <p:sp>
        <p:nvSpPr>
          <p:cNvPr id="12" name="Text 10"/>
          <p:cNvSpPr txBox="1"/>
          <p:nvPr/>
        </p:nvSpPr>
        <p:spPr>
          <a:xfrm>
            <a:off x="5212080" y="162763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Summarize thread</a:t>
            </a:r>
            <a:endParaRPr lang="en-US" sz="1700" dirty="0"/>
          </a:p>
        </p:txBody>
      </p:sp>
      <p:sp>
        <p:nvSpPr>
          <p:cNvPr id="13" name="Text 11"/>
          <p:cNvSpPr txBox="1"/>
          <p:nvPr/>
        </p:nvSpPr>
        <p:spPr>
          <a:xfrm>
            <a:off x="4663440" y="2240280"/>
            <a:ext cx="3017520" cy="11430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2–3 sentence handoff summary — perfect for shift changes, escalations, and support tickets that need a quick brief.</a:t>
            </a:r>
            <a:endParaRPr lang="en-US" sz="1200" dirty="0"/>
          </a:p>
        </p:txBody>
      </p:sp>
      <p:sp>
        <p:nvSpPr>
          <p:cNvPr id="14" name="Shape 12"/>
          <p:cNvSpPr/>
          <p:nvPr/>
        </p:nvSpPr>
        <p:spPr>
          <a:xfrm>
            <a:off x="8138160" y="1371600"/>
            <a:ext cx="3657600" cy="2194560"/>
          </a:xfrm>
          <a:prstGeom prst="roundRect">
            <a:avLst>
              <a:gd name="adj" fmla="val 3333"/>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5" name="Shape 13"/>
          <p:cNvSpPr/>
          <p:nvPr/>
        </p:nvSpPr>
        <p:spPr>
          <a:xfrm>
            <a:off x="8412480" y="1645920"/>
            <a:ext cx="457200" cy="457200"/>
          </a:xfrm>
          <a:prstGeom prst="ellipse">
            <a:avLst/>
          </a:prstGeom>
          <a:solidFill>
            <a:srgbClr val="F96167"/>
          </a:solidFill>
          <a:ln/>
        </p:spPr>
      </p:sp>
      <p:sp>
        <p:nvSpPr>
          <p:cNvPr id="16" name="Text 14"/>
          <p:cNvSpPr txBox="1"/>
          <p:nvPr/>
        </p:nvSpPr>
        <p:spPr>
          <a:xfrm>
            <a:off x="841248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H</a:t>
            </a:r>
            <a:endParaRPr lang="en-US" sz="1600" dirty="0"/>
          </a:p>
        </p:txBody>
      </p:sp>
      <p:sp>
        <p:nvSpPr>
          <p:cNvPr id="17" name="Text 15"/>
          <p:cNvSpPr txBox="1"/>
          <p:nvPr/>
        </p:nvSpPr>
        <p:spPr>
          <a:xfrm>
            <a:off x="9006840" y="1627632"/>
            <a:ext cx="26517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Sentiment</a:t>
            </a:r>
            <a:endParaRPr lang="en-US" sz="1700" dirty="0"/>
          </a:p>
        </p:txBody>
      </p:sp>
      <p:sp>
        <p:nvSpPr>
          <p:cNvPr id="18" name="Text 16"/>
          <p:cNvSpPr txBox="1"/>
          <p:nvPr/>
        </p:nvSpPr>
        <p:spPr>
          <a:xfrm>
            <a:off x="8458200" y="2240280"/>
            <a:ext cx="3017520" cy="11430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Positive / neutral / negative with a one-line reason. Optional auto-tag stamps sentiment:&lt;score&gt; on every inbound message.</a:t>
            </a:r>
            <a:endParaRPr lang="en-US" sz="1200" dirty="0"/>
          </a:p>
        </p:txBody>
      </p:sp>
      <p:sp>
        <p:nvSpPr>
          <p:cNvPr id="19" name="Shape 17"/>
          <p:cNvSpPr/>
          <p:nvPr/>
        </p:nvSpPr>
        <p:spPr>
          <a:xfrm>
            <a:off x="548640" y="3703320"/>
            <a:ext cx="11247120" cy="1920240"/>
          </a:xfrm>
          <a:prstGeom prst="roundRect">
            <a:avLst>
              <a:gd name="adj" fmla="val 3810"/>
            </a:avLst>
          </a:prstGeom>
          <a:solidFill>
            <a:srgbClr val="21295C"/>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822960" y="3977640"/>
            <a:ext cx="457200" cy="457200"/>
          </a:xfrm>
          <a:prstGeom prst="ellipse">
            <a:avLst/>
          </a:prstGeom>
          <a:solidFill>
            <a:srgbClr val="F96167"/>
          </a:solidFill>
          <a:ln/>
        </p:spPr>
      </p:sp>
      <p:sp>
        <p:nvSpPr>
          <p:cNvPr id="21" name="Text 19"/>
          <p:cNvSpPr txBox="1"/>
          <p:nvPr/>
        </p:nvSpPr>
        <p:spPr>
          <a:xfrm>
            <a:off x="822960" y="39959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2" name="Text 20"/>
          <p:cNvSpPr txBox="1"/>
          <p:nvPr/>
        </p:nvSpPr>
        <p:spPr>
          <a:xfrm>
            <a:off x="1417320" y="3959352"/>
            <a:ext cx="1024128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How the cost works</a:t>
            </a:r>
            <a:endParaRPr lang="en-US" sz="1700" dirty="0"/>
          </a:p>
        </p:txBody>
      </p:sp>
      <p:sp>
        <p:nvSpPr>
          <p:cNvPr id="23" name="Text 21"/>
          <p:cNvSpPr txBox="1"/>
          <p:nvPr/>
        </p:nvSpPr>
        <p:spPr>
          <a:xfrm>
            <a:off x="868680" y="4572000"/>
            <a:ext cx="10607040" cy="86868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Backend uses the official anthropic-sdk-go v1.68 with claude-opus-5. When ANTHROPIC_API_KEY is unset, the panel returns keyword heuristics so the UI works without a paid key. Real calls average ~$0.01–$0.05 per suggestion; sentiment fits in ~128 output tokens.</a:t>
            </a:r>
            <a:endParaRPr lang="en-US" sz="1200" dirty="0"/>
          </a:p>
        </p:txBody>
      </p:sp>
      <p:sp>
        <p:nvSpPr>
          <p:cNvPr id="24" name="Shape 22"/>
          <p:cNvSpPr/>
          <p:nvPr/>
        </p:nvSpPr>
        <p:spPr>
          <a:xfrm>
            <a:off x="548640" y="6537960"/>
            <a:ext cx="320040" cy="27432"/>
          </a:xfrm>
          <a:prstGeom prst="rectangle">
            <a:avLst/>
          </a:prstGeom>
          <a:solidFill>
            <a:srgbClr val="F96167"/>
          </a:solidFill>
          <a:ln/>
        </p:spPr>
      </p:sp>
      <p:sp>
        <p:nvSpPr>
          <p:cNvPr id="25" name="Text 23"/>
          <p:cNvSpPr txBox="1"/>
          <p:nvPr/>
        </p:nvSpPr>
        <p:spPr>
          <a:xfrm>
            <a:off x="960120" y="644652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TalkEx Business  ·  User Manual</a:t>
            </a:r>
            <a:endParaRPr lang="en-US" sz="900" dirty="0"/>
          </a:p>
        </p:txBody>
      </p:sp>
      <p:sp>
        <p:nvSpPr>
          <p:cNvPr id="26" name="Text 24"/>
          <p:cNvSpPr txBox="1"/>
          <p:nvPr/>
        </p:nvSpPr>
        <p:spPr>
          <a:xfrm>
            <a:off x="10607040" y="6446520"/>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 / 26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65A82"/>
        </a:solidFill>
      </p:bgPr>
    </p:bg>
    <p:spTree>
      <p:nvGrpSpPr>
        <p:cNvPr id="1" name=""/>
        <p:cNvGrpSpPr/>
        <p:nvPr/>
      </p:nvGrpSpPr>
      <p:grpSpPr>
        <a:xfrm>
          <a:off x="0" y="0"/>
          <a:ext cx="0" cy="0"/>
          <a:chOff x="0" y="0"/>
          <a:chExt cx="0" cy="0"/>
        </a:xfrm>
      </p:grpSpPr>
      <p:sp>
        <p:nvSpPr>
          <p:cNvPr id="2" name="Text 0"/>
          <p:cNvSpPr txBox="1"/>
          <p:nvPr/>
        </p:nvSpPr>
        <p:spPr>
          <a:xfrm>
            <a:off x="640080" y="2377440"/>
            <a:ext cx="4572000" cy="457200"/>
          </a:xfrm>
          <a:prstGeom prst="rect">
            <a:avLst/>
          </a:prstGeom>
          <a:noFill/>
          <a:ln/>
        </p:spPr>
        <p:txBody>
          <a:bodyPr wrap="square" lIns="0" tIns="0" rIns="0" bIns="0" rtlCol="0" anchor="ctr"/>
          <a:lstStyle/>
          <a:p>
            <a:pPr indent="0" marL="0">
              <a:buNone/>
            </a:pPr>
            <a:r>
              <a:rPr lang="en-US" sz="1400" b="1" spc="600" kern="0" dirty="0">
                <a:solidFill>
                  <a:srgbClr val="F96167"/>
                </a:solidFill>
                <a:latin typeface="Calibri" pitchFamily="34" charset="0"/>
                <a:ea typeface="Calibri" pitchFamily="34" charset="-122"/>
                <a:cs typeface="Calibri" pitchFamily="34" charset="-120"/>
              </a:rPr>
              <a:t>06</a:t>
            </a:r>
            <a:endParaRPr lang="en-US" sz="1400" dirty="0"/>
          </a:p>
        </p:txBody>
      </p:sp>
      <p:sp>
        <p:nvSpPr>
          <p:cNvPr id="3" name="Text 1"/>
          <p:cNvSpPr txBox="1"/>
          <p:nvPr/>
        </p:nvSpPr>
        <p:spPr>
          <a:xfrm>
            <a:off x="640080" y="2834640"/>
            <a:ext cx="10972800" cy="18288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Automation &amp; Live Chat</a:t>
            </a:r>
            <a:endParaRPr lang="en-US" sz="5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Chatbot flow builder</a:t>
            </a:r>
            <a:endParaRPr lang="en-US" sz="30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indent="0" marL="0">
              <a:buNone/>
            </a:pPr>
            <a:r>
              <a:rPr lang="en-US" sz="1300" b="1" spc="400" kern="0" dirty="0">
                <a:solidFill>
                  <a:srgbClr val="1C7293"/>
                </a:solidFill>
                <a:latin typeface="Calibri" pitchFamily="34" charset="0"/>
                <a:ea typeface="Calibri" pitchFamily="34" charset="-122"/>
                <a:cs typeface="Calibri" pitchFamily="34" charset="-120"/>
              </a:rPr>
              <a:t>MULTI-STEP CONVERSATIONS</a:t>
            </a:r>
            <a:endParaRPr lang="en-US" sz="1300" dirty="0"/>
          </a:p>
        </p:txBody>
      </p:sp>
      <p:sp>
        <p:nvSpPr>
          <p:cNvPr id="4" name="Shape 2"/>
          <p:cNvSpPr/>
          <p:nvPr/>
        </p:nvSpPr>
        <p:spPr>
          <a:xfrm>
            <a:off x="548640" y="1371600"/>
            <a:ext cx="11247120" cy="1371600"/>
          </a:xfrm>
          <a:prstGeom prst="roundRect">
            <a:avLst>
              <a:gd name="adj" fmla="val 5333"/>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822960" y="1645920"/>
            <a:ext cx="457200" cy="457200"/>
          </a:xfrm>
          <a:prstGeom prst="ellipse">
            <a:avLst/>
          </a:prstGeom>
          <a:solidFill>
            <a:srgbClr val="F96167"/>
          </a:solidFill>
          <a:ln/>
        </p:spPr>
      </p:sp>
      <p:sp>
        <p:nvSpPr>
          <p:cNvPr id="6" name="Text 4"/>
          <p:cNvSpPr txBox="1"/>
          <p:nvPr/>
        </p:nvSpPr>
        <p:spPr>
          <a:xfrm>
            <a:off x="82296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F</a:t>
            </a:r>
            <a:endParaRPr lang="en-US" sz="1600" dirty="0"/>
          </a:p>
        </p:txBody>
      </p:sp>
      <p:sp>
        <p:nvSpPr>
          <p:cNvPr id="7" name="Text 5"/>
          <p:cNvSpPr txBox="1"/>
          <p:nvPr/>
        </p:nvSpPr>
        <p:spPr>
          <a:xfrm>
            <a:off x="1417320" y="1627632"/>
            <a:ext cx="1024128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7 step types you compose in the visual editor</a:t>
            </a:r>
            <a:endParaRPr lang="en-US" sz="1700" dirty="0"/>
          </a:p>
        </p:txBody>
      </p:sp>
      <p:sp>
        <p:nvSpPr>
          <p:cNvPr id="8" name="Text 6"/>
          <p:cNvSpPr txBox="1"/>
          <p:nvPr/>
        </p:nvSpPr>
        <p:spPr>
          <a:xfrm>
            <a:off x="868680" y="2240280"/>
            <a:ext cx="10607040" cy="3200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send_message  ·  send_template  ·  wait (minutes)  ·  branch on reply  ·  assign_agent  ·  add_tag  ·  end</a:t>
            </a:r>
            <a:endParaRPr lang="en-US" sz="1200" dirty="0"/>
          </a:p>
        </p:txBody>
      </p:sp>
      <p:sp>
        <p:nvSpPr>
          <p:cNvPr id="9" name="Shape 7"/>
          <p:cNvSpPr/>
          <p:nvPr/>
        </p:nvSpPr>
        <p:spPr>
          <a:xfrm>
            <a:off x="548640" y="2880360"/>
            <a:ext cx="5486400" cy="1417320"/>
          </a:xfrm>
          <a:prstGeom prst="roundRect">
            <a:avLst>
              <a:gd name="adj" fmla="val 516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822960" y="3154680"/>
            <a:ext cx="457200" cy="457200"/>
          </a:xfrm>
          <a:prstGeom prst="ellipse">
            <a:avLst/>
          </a:prstGeom>
          <a:solidFill>
            <a:srgbClr val="F96167"/>
          </a:solidFill>
          <a:ln/>
        </p:spPr>
      </p:sp>
      <p:sp>
        <p:nvSpPr>
          <p:cNvPr id="11" name="Text 9"/>
          <p:cNvSpPr txBox="1"/>
          <p:nvPr/>
        </p:nvSpPr>
        <p:spPr>
          <a:xfrm>
            <a:off x="822960" y="3172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K</a:t>
            </a:r>
            <a:endParaRPr lang="en-US" sz="1600" dirty="0"/>
          </a:p>
        </p:txBody>
      </p:sp>
      <p:sp>
        <p:nvSpPr>
          <p:cNvPr id="12" name="Text 10"/>
          <p:cNvSpPr txBox="1"/>
          <p:nvPr/>
        </p:nvSpPr>
        <p:spPr>
          <a:xfrm>
            <a:off x="1417320" y="313639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Triggers</a:t>
            </a:r>
            <a:endParaRPr lang="en-US" sz="1700" dirty="0"/>
          </a:p>
        </p:txBody>
      </p:sp>
      <p:sp>
        <p:nvSpPr>
          <p:cNvPr id="13" name="Text 11"/>
          <p:cNvSpPr txBox="1"/>
          <p:nvPr/>
        </p:nvSpPr>
        <p:spPr>
          <a:xfrm>
            <a:off x="868680" y="3749040"/>
            <a:ext cx="484632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Keyword match on inbound is the main trigger today. A single flow can list many keywords; the first match wins.</a:t>
            </a:r>
            <a:endParaRPr lang="en-US" sz="1200" dirty="0"/>
          </a:p>
        </p:txBody>
      </p:sp>
      <p:sp>
        <p:nvSpPr>
          <p:cNvPr id="14" name="Shape 12"/>
          <p:cNvSpPr/>
          <p:nvPr/>
        </p:nvSpPr>
        <p:spPr>
          <a:xfrm>
            <a:off x="6309360" y="2880360"/>
            <a:ext cx="5486400" cy="1417320"/>
          </a:xfrm>
          <a:prstGeom prst="roundRect">
            <a:avLst>
              <a:gd name="adj" fmla="val 5161"/>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5" name="Shape 13"/>
          <p:cNvSpPr/>
          <p:nvPr/>
        </p:nvSpPr>
        <p:spPr>
          <a:xfrm>
            <a:off x="6583680" y="3154680"/>
            <a:ext cx="457200" cy="457200"/>
          </a:xfrm>
          <a:prstGeom prst="ellipse">
            <a:avLst/>
          </a:prstGeom>
          <a:solidFill>
            <a:srgbClr val="F96167"/>
          </a:solidFill>
          <a:ln/>
        </p:spPr>
      </p:sp>
      <p:sp>
        <p:nvSpPr>
          <p:cNvPr id="16" name="Text 14"/>
          <p:cNvSpPr txBox="1"/>
          <p:nvPr/>
        </p:nvSpPr>
        <p:spPr>
          <a:xfrm>
            <a:off x="6583680" y="3172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E</a:t>
            </a:r>
            <a:endParaRPr lang="en-US" sz="1600" dirty="0"/>
          </a:p>
        </p:txBody>
      </p:sp>
      <p:sp>
        <p:nvSpPr>
          <p:cNvPr id="17" name="Text 15"/>
          <p:cNvSpPr txBox="1"/>
          <p:nvPr/>
        </p:nvSpPr>
        <p:spPr>
          <a:xfrm>
            <a:off x="7178040" y="313639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Engine internals</a:t>
            </a:r>
            <a:endParaRPr lang="en-US" sz="1700" dirty="0"/>
          </a:p>
        </p:txBody>
      </p:sp>
      <p:sp>
        <p:nvSpPr>
          <p:cNvPr id="18" name="Text 16"/>
          <p:cNvSpPr txBox="1"/>
          <p:nvPr/>
        </p:nvSpPr>
        <p:spPr>
          <a:xfrm>
            <a:off x="6629400" y="3749040"/>
            <a:ext cx="484632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Per-RunState mutex serializes advance(); a background sweeper (30 s) resumes wait-timed steps; per-run 32-step guard stops infinite loops from a broken graph.</a:t>
            </a:r>
            <a:endParaRPr lang="en-US" sz="1200" dirty="0"/>
          </a:p>
        </p:txBody>
      </p:sp>
      <p:sp>
        <p:nvSpPr>
          <p:cNvPr id="19" name="Shape 17"/>
          <p:cNvSpPr/>
          <p:nvPr/>
        </p:nvSpPr>
        <p:spPr>
          <a:xfrm>
            <a:off x="548640" y="4434840"/>
            <a:ext cx="11247120" cy="1280160"/>
          </a:xfrm>
          <a:prstGeom prst="roundRect">
            <a:avLst>
              <a:gd name="adj" fmla="val 5714"/>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822960" y="4709160"/>
            <a:ext cx="457200" cy="457200"/>
          </a:xfrm>
          <a:prstGeom prst="ellipse">
            <a:avLst/>
          </a:prstGeom>
          <a:solidFill>
            <a:srgbClr val="F96167"/>
          </a:solidFill>
          <a:ln/>
        </p:spPr>
      </p:sp>
      <p:sp>
        <p:nvSpPr>
          <p:cNvPr id="21" name="Text 19"/>
          <p:cNvSpPr txBox="1"/>
          <p:nvPr/>
        </p:nvSpPr>
        <p:spPr>
          <a:xfrm>
            <a:off x="822960" y="47274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T</a:t>
            </a:r>
            <a:endParaRPr lang="en-US" sz="1600" dirty="0"/>
          </a:p>
        </p:txBody>
      </p:sp>
      <p:sp>
        <p:nvSpPr>
          <p:cNvPr id="22" name="Text 20"/>
          <p:cNvSpPr txBox="1"/>
          <p:nvPr/>
        </p:nvSpPr>
        <p:spPr>
          <a:xfrm>
            <a:off x="1417320" y="4690872"/>
            <a:ext cx="1024128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Test it before shipping</a:t>
            </a:r>
            <a:endParaRPr lang="en-US" sz="1700" dirty="0"/>
          </a:p>
        </p:txBody>
      </p:sp>
      <p:sp>
        <p:nvSpPr>
          <p:cNvPr id="23" name="Text 21"/>
          <p:cNvSpPr txBox="1"/>
          <p:nvPr/>
        </p:nvSpPr>
        <p:spPr>
          <a:xfrm>
            <a:off x="868680" y="5303520"/>
            <a:ext cx="10607040" cy="2286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 flow has a "Run test" panel that fires the flow for a chosen contact so you can watch it play out in Conversations before enabling it globally.</a:t>
            </a:r>
            <a:endParaRPr lang="en-US" sz="1200" dirty="0"/>
          </a:p>
        </p:txBody>
      </p:sp>
      <p:sp>
        <p:nvSpPr>
          <p:cNvPr id="24" name="Shape 22"/>
          <p:cNvSpPr/>
          <p:nvPr/>
        </p:nvSpPr>
        <p:spPr>
          <a:xfrm>
            <a:off x="548640" y="6537960"/>
            <a:ext cx="320040" cy="27432"/>
          </a:xfrm>
          <a:prstGeom prst="rectangle">
            <a:avLst/>
          </a:prstGeom>
          <a:solidFill>
            <a:srgbClr val="F96167"/>
          </a:solidFill>
          <a:ln/>
        </p:spPr>
      </p:sp>
      <p:sp>
        <p:nvSpPr>
          <p:cNvPr id="25" name="Text 23"/>
          <p:cNvSpPr txBox="1"/>
          <p:nvPr/>
        </p:nvSpPr>
        <p:spPr>
          <a:xfrm>
            <a:off x="960120" y="644652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TalkEx Business  ·  User Manual</a:t>
            </a:r>
            <a:endParaRPr lang="en-US" sz="900" dirty="0"/>
          </a:p>
        </p:txBody>
      </p:sp>
      <p:sp>
        <p:nvSpPr>
          <p:cNvPr id="26" name="Text 24"/>
          <p:cNvSpPr txBox="1"/>
          <p:nvPr/>
        </p:nvSpPr>
        <p:spPr>
          <a:xfrm>
            <a:off x="10607040" y="6446520"/>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 / 26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Live Chat website widget</a:t>
            </a:r>
            <a:endParaRPr lang="en-US" sz="30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indent="0" marL="0">
              <a:buNone/>
            </a:pPr>
            <a:r>
              <a:rPr lang="en-US" sz="1300" b="1" spc="400" kern="0" dirty="0">
                <a:solidFill>
                  <a:srgbClr val="1C7293"/>
                </a:solidFill>
                <a:latin typeface="Calibri" pitchFamily="34" charset="0"/>
                <a:ea typeface="Calibri" pitchFamily="34" charset="-122"/>
                <a:cs typeface="Calibri" pitchFamily="34" charset="-120"/>
              </a:rPr>
              <a:t>ONE SCRIPT TAG · UNIFIED INBOX</a:t>
            </a:r>
            <a:endParaRPr lang="en-US" sz="1300" dirty="0"/>
          </a:p>
        </p:txBody>
      </p:sp>
      <p:sp>
        <p:nvSpPr>
          <p:cNvPr id="4" name="Text 2"/>
          <p:cNvSpPr txBox="1"/>
          <p:nvPr/>
        </p:nvSpPr>
        <p:spPr>
          <a:xfrm>
            <a:off x="548640" y="1417320"/>
            <a:ext cx="5943600" cy="4572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11827"/>
                </a:solidFill>
                <a:latin typeface="Calibri" pitchFamily="34" charset="0"/>
                <a:ea typeface="Calibri" pitchFamily="34" charset="-122"/>
                <a:cs typeface="Calibri" pitchFamily="34" charset="-120"/>
              </a:rPr>
              <a:t>Copy-paste one &lt;script&gt; tag with the per-owner public key.</a:t>
            </a:r>
            <a:endParaRPr lang="en-US" sz="1400" dirty="0"/>
          </a:p>
          <a:p>
            <a:pPr marL="342900" indent="-342900">
              <a:spcAft>
                <a:spcPts val="400"/>
              </a:spcAft>
              <a:buSzPct val="100000"/>
              <a:buChar char="●"/>
            </a:pPr>
            <a:r>
              <a:rPr lang="en-US" sz="1400" dirty="0">
                <a:solidFill>
                  <a:srgbClr val="111827"/>
                </a:solidFill>
                <a:latin typeface="Calibri" pitchFamily="34" charset="0"/>
                <a:ea typeface="Calibri" pitchFamily="34" charset="-122"/>
                <a:cs typeface="Calibri" pitchFamily="34" charset="-120"/>
              </a:rPr>
              <a:t>Floating bubble expands into a chat panel — brand color, title, greeting configured in Settings.</a:t>
            </a:r>
            <a:endParaRPr lang="en-US" sz="1400" dirty="0"/>
          </a:p>
          <a:p>
            <a:pPr marL="342900" indent="-342900">
              <a:spcAft>
                <a:spcPts val="400"/>
              </a:spcAft>
              <a:buSzPct val="100000"/>
              <a:buChar char="●"/>
            </a:pPr>
            <a:r>
              <a:rPr lang="en-US" sz="1400" dirty="0">
                <a:solidFill>
                  <a:srgbClr val="111827"/>
                </a:solidFill>
                <a:latin typeface="Calibri" pitchFamily="34" charset="0"/>
                <a:ea typeface="Calibri" pitchFamily="34" charset="-122"/>
                <a:cs typeface="Calibri" pitchFamily="34" charset="-120"/>
              </a:rPr>
              <a:t>Visitor sessions become Contact rows tagged "webchat"; every message routes through the same conversations.RecordInbound path as WhatsApp/Telegram.</a:t>
            </a:r>
            <a:endParaRPr lang="en-US" sz="1400" dirty="0"/>
          </a:p>
          <a:p>
            <a:pPr marL="342900" indent="-342900">
              <a:spcAft>
                <a:spcPts val="400"/>
              </a:spcAft>
              <a:buSzPct val="100000"/>
              <a:buChar char="●"/>
            </a:pPr>
            <a:r>
              <a:rPr lang="en-US" sz="1400" dirty="0">
                <a:solidFill>
                  <a:srgbClr val="111827"/>
                </a:solidFill>
                <a:latin typeface="Calibri" pitchFamily="34" charset="0"/>
                <a:ea typeface="Calibri" pitchFamily="34" charset="-122"/>
                <a:cs typeface="Calibri" pitchFamily="34" charset="-120"/>
              </a:rPr>
              <a:t>Agent replies stream back to the visitor via SSE — real-time both ways.</a:t>
            </a:r>
            <a:endParaRPr lang="en-US" sz="1400" dirty="0"/>
          </a:p>
          <a:p>
            <a:pPr marL="342900" indent="-342900">
              <a:spcAft>
                <a:spcPts val="400"/>
              </a:spcAft>
              <a:buSzPct val="100000"/>
              <a:buChar char="●"/>
            </a:pPr>
            <a:r>
              <a:rPr lang="en-US" sz="1400" dirty="0">
                <a:solidFill>
                  <a:srgbClr val="111827"/>
                </a:solidFill>
                <a:latin typeface="Calibri" pitchFamily="34" charset="0"/>
                <a:ea typeface="Calibri" pitchFamily="34" charset="-122"/>
                <a:cs typeface="Calibri" pitchFamily="34" charset="-120"/>
              </a:rPr>
              <a:t>Rate-limited (5 inits per IP per 5 min) so a scraper can't flood the contact list.</a:t>
            </a:r>
            <a:endParaRPr lang="en-US" sz="1400" dirty="0"/>
          </a:p>
          <a:p>
            <a:pPr marL="342900" indent="-342900">
              <a:spcAft>
                <a:spcPts val="400"/>
              </a:spcAft>
              <a:buSzPct val="100000"/>
              <a:buChar char="●"/>
            </a:pPr>
            <a:r>
              <a:rPr lang="en-US" sz="1400" dirty="0">
                <a:solidFill>
                  <a:srgbClr val="111827"/>
                </a:solidFill>
                <a:latin typeface="Calibri" pitchFamily="34" charset="0"/>
                <a:ea typeface="Calibri" pitchFamily="34" charset="-122"/>
                <a:cs typeface="Calibri" pitchFamily="34" charset="-120"/>
              </a:rPr>
              <a:t>Message body capped at 4 KB before it fans out to SSE subscribers.</a:t>
            </a:r>
            <a:endParaRPr lang="en-US" sz="1400" dirty="0"/>
          </a:p>
          <a:p>
            <a:pPr marL="342900" indent="-342900">
              <a:spcAft>
                <a:spcPts val="400"/>
              </a:spcAft>
              <a:buSzPct val="100000"/>
              <a:buChar char="●"/>
            </a:pPr>
            <a:r>
              <a:rPr lang="en-US" sz="1400" dirty="0">
                <a:solidFill>
                  <a:srgbClr val="111827"/>
                </a:solidFill>
                <a:latin typeface="Calibri" pitchFamily="34" charset="0"/>
                <a:ea typeface="Calibri" pitchFamily="34" charset="-122"/>
                <a:cs typeface="Calibri" pitchFamily="34" charset="-120"/>
              </a:rPr>
              <a:t>Rotate-key button in Settings revokes leaked embeds.</a:t>
            </a:r>
            <a:endParaRPr lang="en-US" sz="1400" dirty="0"/>
          </a:p>
        </p:txBody>
      </p:sp>
      <p:sp>
        <p:nvSpPr>
          <p:cNvPr id="5" name="Shape 3"/>
          <p:cNvSpPr/>
          <p:nvPr/>
        </p:nvSpPr>
        <p:spPr>
          <a:xfrm>
            <a:off x="6766560" y="1371600"/>
            <a:ext cx="5029200" cy="4572000"/>
          </a:xfrm>
          <a:prstGeom prst="roundRect">
            <a:avLst>
              <a:gd name="adj" fmla="val 3000"/>
            </a:avLst>
          </a:prstGeom>
          <a:solidFill>
            <a:srgbClr val="065A82"/>
          </a:solidFill>
          <a:ln/>
          <a:effectLst>
            <a:outerShdw sx="100000" sy="100000" kx="0" ky="0" algn="bl" rotWithShape="0" blurRad="152400" dist="38100" dir="5400000">
              <a:srgbClr val="000000">
                <a:alpha val="20000"/>
              </a:srgbClr>
            </a:outerShdw>
          </a:effectLst>
        </p:spPr>
      </p:sp>
      <p:sp>
        <p:nvSpPr>
          <p:cNvPr id="6" name="Text 4"/>
          <p:cNvSpPr txBox="1"/>
          <p:nvPr/>
        </p:nvSpPr>
        <p:spPr>
          <a:xfrm>
            <a:off x="6903720" y="1508760"/>
            <a:ext cx="475488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Chat with us</a:t>
            </a:r>
            <a:endParaRPr lang="en-US" sz="1800" dirty="0"/>
          </a:p>
        </p:txBody>
      </p:sp>
      <p:sp>
        <p:nvSpPr>
          <p:cNvPr id="7" name="Shape 5"/>
          <p:cNvSpPr/>
          <p:nvPr/>
        </p:nvSpPr>
        <p:spPr>
          <a:xfrm>
            <a:off x="6949440" y="2194560"/>
            <a:ext cx="3200400" cy="640080"/>
          </a:xfrm>
          <a:prstGeom prst="roundRect">
            <a:avLst>
              <a:gd name="adj" fmla="val 21429"/>
            </a:avLst>
          </a:prstGeom>
          <a:solidFill>
            <a:srgbClr val="FFFFFF"/>
          </a:solidFill>
          <a:ln/>
        </p:spPr>
      </p:sp>
      <p:sp>
        <p:nvSpPr>
          <p:cNvPr id="8" name="Text 6"/>
          <p:cNvSpPr txBox="1"/>
          <p:nvPr/>
        </p:nvSpPr>
        <p:spPr>
          <a:xfrm>
            <a:off x="7086600" y="2286000"/>
            <a:ext cx="3017520" cy="45720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Hi! How can we help you today?</a:t>
            </a:r>
            <a:endParaRPr lang="en-US" sz="1100" dirty="0"/>
          </a:p>
        </p:txBody>
      </p:sp>
      <p:sp>
        <p:nvSpPr>
          <p:cNvPr id="9" name="Shape 7"/>
          <p:cNvSpPr/>
          <p:nvPr/>
        </p:nvSpPr>
        <p:spPr>
          <a:xfrm>
            <a:off x="8595360" y="3017520"/>
            <a:ext cx="3108960" cy="640080"/>
          </a:xfrm>
          <a:prstGeom prst="roundRect">
            <a:avLst>
              <a:gd name="adj" fmla="val 21429"/>
            </a:avLst>
          </a:prstGeom>
          <a:solidFill>
            <a:srgbClr val="F96167"/>
          </a:solidFill>
          <a:ln/>
        </p:spPr>
      </p:sp>
      <p:sp>
        <p:nvSpPr>
          <p:cNvPr id="10" name="Text 8"/>
          <p:cNvSpPr txBox="1"/>
          <p:nvPr/>
        </p:nvSpPr>
        <p:spPr>
          <a:xfrm>
            <a:off x="8686800" y="3108960"/>
            <a:ext cx="2926080" cy="4572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What are your pricing plans?</a:t>
            </a:r>
            <a:endParaRPr lang="en-US" sz="1100" dirty="0"/>
          </a:p>
        </p:txBody>
      </p:sp>
      <p:sp>
        <p:nvSpPr>
          <p:cNvPr id="11" name="Shape 9"/>
          <p:cNvSpPr/>
          <p:nvPr/>
        </p:nvSpPr>
        <p:spPr>
          <a:xfrm>
            <a:off x="6903720" y="5212080"/>
            <a:ext cx="4754880" cy="548640"/>
          </a:xfrm>
          <a:prstGeom prst="roundRect">
            <a:avLst>
              <a:gd name="adj" fmla="val 16667"/>
            </a:avLst>
          </a:prstGeom>
          <a:solidFill>
            <a:srgbClr val="F1F5F9"/>
          </a:solidFill>
          <a:ln/>
        </p:spPr>
      </p:sp>
      <p:sp>
        <p:nvSpPr>
          <p:cNvPr id="12" name="Text 10"/>
          <p:cNvSpPr txBox="1"/>
          <p:nvPr/>
        </p:nvSpPr>
        <p:spPr>
          <a:xfrm>
            <a:off x="7040880" y="5285232"/>
            <a:ext cx="3657600" cy="36576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Type a message…</a:t>
            </a:r>
            <a:endParaRPr lang="en-US" sz="1100" dirty="0"/>
          </a:p>
        </p:txBody>
      </p:sp>
      <p:sp>
        <p:nvSpPr>
          <p:cNvPr id="13" name="Shape 11"/>
          <p:cNvSpPr/>
          <p:nvPr/>
        </p:nvSpPr>
        <p:spPr>
          <a:xfrm>
            <a:off x="548640" y="6537960"/>
            <a:ext cx="320040" cy="27432"/>
          </a:xfrm>
          <a:prstGeom prst="rectangle">
            <a:avLst/>
          </a:prstGeom>
          <a:solidFill>
            <a:srgbClr val="F96167"/>
          </a:solidFill>
          <a:ln/>
        </p:spPr>
      </p:sp>
      <p:sp>
        <p:nvSpPr>
          <p:cNvPr id="14" name="Text 12"/>
          <p:cNvSpPr txBox="1"/>
          <p:nvPr/>
        </p:nvSpPr>
        <p:spPr>
          <a:xfrm>
            <a:off x="960120" y="644652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TalkEx Business  ·  User Manual</a:t>
            </a:r>
            <a:endParaRPr lang="en-US" sz="900" dirty="0"/>
          </a:p>
        </p:txBody>
      </p:sp>
      <p:sp>
        <p:nvSpPr>
          <p:cNvPr id="15" name="Text 13"/>
          <p:cNvSpPr txBox="1"/>
          <p:nvPr/>
        </p:nvSpPr>
        <p:spPr>
          <a:xfrm>
            <a:off x="10607040" y="6446520"/>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 / 26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65A82"/>
        </a:solidFill>
      </p:bgPr>
    </p:bg>
    <p:spTree>
      <p:nvGrpSpPr>
        <p:cNvPr id="1" name=""/>
        <p:cNvGrpSpPr/>
        <p:nvPr/>
      </p:nvGrpSpPr>
      <p:grpSpPr>
        <a:xfrm>
          <a:off x="0" y="0"/>
          <a:ext cx="0" cy="0"/>
          <a:chOff x="0" y="0"/>
          <a:chExt cx="0" cy="0"/>
        </a:xfrm>
      </p:grpSpPr>
      <p:sp>
        <p:nvSpPr>
          <p:cNvPr id="2" name="Text 0"/>
          <p:cNvSpPr txBox="1"/>
          <p:nvPr/>
        </p:nvSpPr>
        <p:spPr>
          <a:xfrm>
            <a:off x="640080" y="2377440"/>
            <a:ext cx="4572000" cy="457200"/>
          </a:xfrm>
          <a:prstGeom prst="rect">
            <a:avLst/>
          </a:prstGeom>
          <a:noFill/>
          <a:ln/>
        </p:spPr>
        <p:txBody>
          <a:bodyPr wrap="square" lIns="0" tIns="0" rIns="0" bIns="0" rtlCol="0" anchor="ctr"/>
          <a:lstStyle/>
          <a:p>
            <a:pPr indent="0" marL="0">
              <a:buNone/>
            </a:pPr>
            <a:r>
              <a:rPr lang="en-US" sz="1400" b="1" spc="600" kern="0" dirty="0">
                <a:solidFill>
                  <a:srgbClr val="F96167"/>
                </a:solidFill>
                <a:latin typeface="Calibri" pitchFamily="34" charset="0"/>
                <a:ea typeface="Calibri" pitchFamily="34" charset="-122"/>
                <a:cs typeface="Calibri" pitchFamily="34" charset="-120"/>
              </a:rPr>
              <a:t>07</a:t>
            </a:r>
            <a:endParaRPr lang="en-US" sz="1400" dirty="0"/>
          </a:p>
        </p:txBody>
      </p:sp>
      <p:sp>
        <p:nvSpPr>
          <p:cNvPr id="3" name="Text 1"/>
          <p:cNvSpPr txBox="1"/>
          <p:nvPr/>
        </p:nvSpPr>
        <p:spPr>
          <a:xfrm>
            <a:off x="640080" y="2834640"/>
            <a:ext cx="10972800" cy="18288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Ops, Compliance &amp; Payments</a:t>
            </a:r>
            <a:endParaRPr lang="en-US" sz="5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Business Hours, Away Message &amp; SLA</a:t>
            </a:r>
            <a:endParaRPr lang="en-US" sz="30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indent="0" marL="0">
              <a:buNone/>
            </a:pPr>
            <a:r>
              <a:rPr lang="en-US" sz="1300" b="1" spc="400" kern="0" dirty="0">
                <a:solidFill>
                  <a:srgbClr val="1C7293"/>
                </a:solidFill>
                <a:latin typeface="Calibri" pitchFamily="34" charset="0"/>
                <a:ea typeface="Calibri" pitchFamily="34" charset="-122"/>
                <a:cs typeface="Calibri" pitchFamily="34" charset="-120"/>
              </a:rPr>
              <a:t>RESPONSE-TIME GUARANTEES</a:t>
            </a:r>
            <a:endParaRPr lang="en-US" sz="1300" dirty="0"/>
          </a:p>
        </p:txBody>
      </p:sp>
      <p:sp>
        <p:nvSpPr>
          <p:cNvPr id="4" name="Shape 2"/>
          <p:cNvSpPr/>
          <p:nvPr/>
        </p:nvSpPr>
        <p:spPr>
          <a:xfrm>
            <a:off x="548640" y="1371600"/>
            <a:ext cx="5486400" cy="2103120"/>
          </a:xfrm>
          <a:prstGeom prst="roundRect">
            <a:avLst>
              <a:gd name="adj" fmla="val 3478"/>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822960" y="1645920"/>
            <a:ext cx="457200" cy="457200"/>
          </a:xfrm>
          <a:prstGeom prst="ellipse">
            <a:avLst/>
          </a:prstGeom>
          <a:solidFill>
            <a:srgbClr val="F96167"/>
          </a:solidFill>
          <a:ln/>
        </p:spPr>
      </p:sp>
      <p:sp>
        <p:nvSpPr>
          <p:cNvPr id="6" name="Text 4"/>
          <p:cNvSpPr txBox="1"/>
          <p:nvPr/>
        </p:nvSpPr>
        <p:spPr>
          <a:xfrm>
            <a:off x="82296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H</a:t>
            </a:r>
            <a:endParaRPr lang="en-US" sz="1600" dirty="0"/>
          </a:p>
        </p:txBody>
      </p:sp>
      <p:sp>
        <p:nvSpPr>
          <p:cNvPr id="7" name="Text 5"/>
          <p:cNvSpPr txBox="1"/>
          <p:nvPr/>
        </p:nvSpPr>
        <p:spPr>
          <a:xfrm>
            <a:off x="1417320" y="162763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Business hours</a:t>
            </a:r>
            <a:endParaRPr lang="en-US" sz="1700" dirty="0"/>
          </a:p>
        </p:txBody>
      </p:sp>
      <p:sp>
        <p:nvSpPr>
          <p:cNvPr id="8" name="Text 6"/>
          <p:cNvSpPr txBox="1"/>
          <p:nvPr/>
        </p:nvSpPr>
        <p:spPr>
          <a:xfrm>
            <a:off x="868680" y="2240280"/>
            <a:ext cx="4846320" cy="10515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Toggle days (Mon–Sun) + open/close times per tenant, evaluated in your Timezone. Overnight windows (22:00 → 06:00) are supported.</a:t>
            </a:r>
            <a:endParaRPr lang="en-US" sz="1200" dirty="0"/>
          </a:p>
        </p:txBody>
      </p:sp>
      <p:sp>
        <p:nvSpPr>
          <p:cNvPr id="9" name="Shape 7"/>
          <p:cNvSpPr/>
          <p:nvPr/>
        </p:nvSpPr>
        <p:spPr>
          <a:xfrm>
            <a:off x="6309360" y="1371600"/>
            <a:ext cx="5486400" cy="2103120"/>
          </a:xfrm>
          <a:prstGeom prst="roundRect">
            <a:avLst>
              <a:gd name="adj" fmla="val 3478"/>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6583680" y="1645920"/>
            <a:ext cx="457200" cy="457200"/>
          </a:xfrm>
          <a:prstGeom prst="ellipse">
            <a:avLst/>
          </a:prstGeom>
          <a:solidFill>
            <a:srgbClr val="F96167"/>
          </a:solidFill>
          <a:ln/>
        </p:spPr>
      </p:sp>
      <p:sp>
        <p:nvSpPr>
          <p:cNvPr id="11" name="Text 9"/>
          <p:cNvSpPr txBox="1"/>
          <p:nvPr/>
        </p:nvSpPr>
        <p:spPr>
          <a:xfrm>
            <a:off x="658368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a:t>
            </a:r>
            <a:endParaRPr lang="en-US" sz="1600" dirty="0"/>
          </a:p>
        </p:txBody>
      </p:sp>
      <p:sp>
        <p:nvSpPr>
          <p:cNvPr id="12" name="Text 10"/>
          <p:cNvSpPr txBox="1"/>
          <p:nvPr/>
        </p:nvSpPr>
        <p:spPr>
          <a:xfrm>
            <a:off x="7178040" y="162763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Away message</a:t>
            </a:r>
            <a:endParaRPr lang="en-US" sz="1700" dirty="0"/>
          </a:p>
        </p:txBody>
      </p:sp>
      <p:sp>
        <p:nvSpPr>
          <p:cNvPr id="13" name="Text 11"/>
          <p:cNvSpPr txBox="1"/>
          <p:nvPr/>
        </p:nvSpPr>
        <p:spPr>
          <a:xfrm>
            <a:off x="6629400" y="2240280"/>
            <a:ext cx="4846320" cy="10515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Auto-reply text sent outside hours, deduped per contact for 24 h so a chatty visitor is never spammed.</a:t>
            </a:r>
            <a:endParaRPr lang="en-US" sz="1200" dirty="0"/>
          </a:p>
        </p:txBody>
      </p:sp>
      <p:sp>
        <p:nvSpPr>
          <p:cNvPr id="14" name="Shape 12"/>
          <p:cNvSpPr/>
          <p:nvPr/>
        </p:nvSpPr>
        <p:spPr>
          <a:xfrm>
            <a:off x="548640" y="3611880"/>
            <a:ext cx="11247120" cy="2377440"/>
          </a:xfrm>
          <a:prstGeom prst="roundRect">
            <a:avLst>
              <a:gd name="adj" fmla="val 3077"/>
            </a:avLst>
          </a:prstGeom>
          <a:solidFill>
            <a:srgbClr val="21295C"/>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5" name="Shape 13"/>
          <p:cNvSpPr/>
          <p:nvPr/>
        </p:nvSpPr>
        <p:spPr>
          <a:xfrm>
            <a:off x="822960" y="3886200"/>
            <a:ext cx="457200" cy="457200"/>
          </a:xfrm>
          <a:prstGeom prst="ellipse">
            <a:avLst/>
          </a:prstGeom>
          <a:solidFill>
            <a:srgbClr val="F96167"/>
          </a:solidFill>
          <a:ln/>
        </p:spPr>
      </p:sp>
      <p:sp>
        <p:nvSpPr>
          <p:cNvPr id="16" name="Text 14"/>
          <p:cNvSpPr txBox="1"/>
          <p:nvPr/>
        </p:nvSpPr>
        <p:spPr>
          <a:xfrm>
            <a:off x="822960" y="3904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a:t>
            </a:r>
            <a:endParaRPr lang="en-US" sz="1600" dirty="0"/>
          </a:p>
        </p:txBody>
      </p:sp>
      <p:sp>
        <p:nvSpPr>
          <p:cNvPr id="17" name="Text 15"/>
          <p:cNvSpPr txBox="1"/>
          <p:nvPr/>
        </p:nvSpPr>
        <p:spPr>
          <a:xfrm>
            <a:off x="1417320" y="3867912"/>
            <a:ext cx="1024128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SLA breach alerts</a:t>
            </a:r>
            <a:endParaRPr lang="en-US" sz="1700" dirty="0"/>
          </a:p>
        </p:txBody>
      </p:sp>
      <p:sp>
        <p:nvSpPr>
          <p:cNvPr id="18" name="Text 16"/>
          <p:cNvSpPr txBox="1"/>
          <p:nvPr/>
        </p:nvSpPr>
        <p:spPr>
          <a:xfrm>
            <a:off x="868680" y="4480560"/>
            <a:ext cx="10607040" cy="132588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Set a first-response-minutes threshold. A 1-minute background sweeper finds conversations whose last inbound is past the window and fires an in-app notification + a sla.breached webhook (12-hour cooldown per conversation so a single breach never emits an alert every minute).</a:t>
            </a:r>
            <a:endParaRPr lang="en-US" sz="1200" dirty="0"/>
          </a:p>
        </p:txBody>
      </p:sp>
      <p:sp>
        <p:nvSpPr>
          <p:cNvPr id="19" name="Shape 17"/>
          <p:cNvSpPr/>
          <p:nvPr/>
        </p:nvSpPr>
        <p:spPr>
          <a:xfrm>
            <a:off x="548640" y="6537960"/>
            <a:ext cx="320040" cy="27432"/>
          </a:xfrm>
          <a:prstGeom prst="rectangle">
            <a:avLst/>
          </a:prstGeom>
          <a:solidFill>
            <a:srgbClr val="F96167"/>
          </a:solidFill>
          <a:ln/>
        </p:spPr>
      </p:sp>
      <p:sp>
        <p:nvSpPr>
          <p:cNvPr id="20" name="Text 18"/>
          <p:cNvSpPr txBox="1"/>
          <p:nvPr/>
        </p:nvSpPr>
        <p:spPr>
          <a:xfrm>
            <a:off x="960120" y="644652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TalkEx Business  ·  User Manual</a:t>
            </a:r>
            <a:endParaRPr lang="en-US" sz="900" dirty="0"/>
          </a:p>
        </p:txBody>
      </p:sp>
      <p:sp>
        <p:nvSpPr>
          <p:cNvPr id="21" name="Text 19"/>
          <p:cNvSpPr txBox="1"/>
          <p:nvPr/>
        </p:nvSpPr>
        <p:spPr>
          <a:xfrm>
            <a:off x="10607040" y="6446520"/>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22 / 26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Wallet &amp; Razorpay payments</a:t>
            </a:r>
            <a:endParaRPr lang="en-US" sz="30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indent="0" marL="0">
              <a:buNone/>
            </a:pPr>
            <a:r>
              <a:rPr lang="en-US" sz="1300" b="1" spc="400" kern="0" dirty="0">
                <a:solidFill>
                  <a:srgbClr val="1C7293"/>
                </a:solidFill>
                <a:latin typeface="Calibri" pitchFamily="34" charset="0"/>
                <a:ea typeface="Calibri" pitchFamily="34" charset="-122"/>
                <a:cs typeface="Calibri" pitchFamily="34" charset="-120"/>
              </a:rPr>
              <a:t>PREPAID BALANCE · IDEMPOTENT LEDGER</a:t>
            </a:r>
            <a:endParaRPr lang="en-US" sz="1300" dirty="0"/>
          </a:p>
        </p:txBody>
      </p:sp>
      <p:sp>
        <p:nvSpPr>
          <p:cNvPr id="4" name="Shape 2"/>
          <p:cNvSpPr/>
          <p:nvPr/>
        </p:nvSpPr>
        <p:spPr>
          <a:xfrm>
            <a:off x="548640" y="1371600"/>
            <a:ext cx="5486400" cy="2103120"/>
          </a:xfrm>
          <a:prstGeom prst="roundRect">
            <a:avLst>
              <a:gd name="adj" fmla="val 3478"/>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822960" y="1645920"/>
            <a:ext cx="457200" cy="457200"/>
          </a:xfrm>
          <a:prstGeom prst="ellipse">
            <a:avLst/>
          </a:prstGeom>
          <a:solidFill>
            <a:srgbClr val="F96167"/>
          </a:solidFill>
          <a:ln/>
        </p:spPr>
      </p:sp>
      <p:sp>
        <p:nvSpPr>
          <p:cNvPr id="6" name="Text 4"/>
          <p:cNvSpPr txBox="1"/>
          <p:nvPr/>
        </p:nvSpPr>
        <p:spPr>
          <a:xfrm>
            <a:off x="82296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1417320" y="162763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Ledger</a:t>
            </a:r>
            <a:endParaRPr lang="en-US" sz="1700" dirty="0"/>
          </a:p>
        </p:txBody>
      </p:sp>
      <p:sp>
        <p:nvSpPr>
          <p:cNvPr id="8" name="Text 6"/>
          <p:cNvSpPr txBox="1"/>
          <p:nvPr/>
        </p:nvSpPr>
        <p:spPr>
          <a:xfrm>
            <a:off x="868680" y="2240280"/>
            <a:ext cx="4846320" cy="10515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Row-locked balance updates, idempotency-key-guarded transactions, per-message cost + sell tracking, auto-pause of campaigns below the minimum balance threshold.</a:t>
            </a:r>
            <a:endParaRPr lang="en-US" sz="1200" dirty="0"/>
          </a:p>
        </p:txBody>
      </p:sp>
      <p:sp>
        <p:nvSpPr>
          <p:cNvPr id="9" name="Shape 7"/>
          <p:cNvSpPr/>
          <p:nvPr/>
        </p:nvSpPr>
        <p:spPr>
          <a:xfrm>
            <a:off x="6309360" y="1371600"/>
            <a:ext cx="5486400" cy="2103120"/>
          </a:xfrm>
          <a:prstGeom prst="roundRect">
            <a:avLst>
              <a:gd name="adj" fmla="val 3478"/>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6583680" y="1645920"/>
            <a:ext cx="457200" cy="457200"/>
          </a:xfrm>
          <a:prstGeom prst="ellipse">
            <a:avLst/>
          </a:prstGeom>
          <a:solidFill>
            <a:srgbClr val="F96167"/>
          </a:solidFill>
          <a:ln/>
        </p:spPr>
      </p:sp>
      <p:sp>
        <p:nvSpPr>
          <p:cNvPr id="11" name="Text 9"/>
          <p:cNvSpPr txBox="1"/>
          <p:nvPr/>
        </p:nvSpPr>
        <p:spPr>
          <a:xfrm>
            <a:off x="658368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R</a:t>
            </a:r>
            <a:endParaRPr lang="en-US" sz="1600" dirty="0"/>
          </a:p>
        </p:txBody>
      </p:sp>
      <p:sp>
        <p:nvSpPr>
          <p:cNvPr id="12" name="Text 10"/>
          <p:cNvSpPr txBox="1"/>
          <p:nvPr/>
        </p:nvSpPr>
        <p:spPr>
          <a:xfrm>
            <a:off x="7178040" y="162763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Razorpay integration</a:t>
            </a:r>
            <a:endParaRPr lang="en-US" sz="1700" dirty="0"/>
          </a:p>
        </p:txBody>
      </p:sp>
      <p:sp>
        <p:nvSpPr>
          <p:cNvPr id="13" name="Text 11"/>
          <p:cNvSpPr txBox="1"/>
          <p:nvPr/>
        </p:nvSpPr>
        <p:spPr>
          <a:xfrm>
            <a:off x="6629400" y="2240280"/>
            <a:ext cx="4846320" cy="10515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Order creation + webhook receipt. Dev mode has a /dev-simulate endpoint to complete flows without real gateway. Production verifies HMAC-SHA256 signatures against RAZORPAY_WEBHOOK_SECRET and fails closed if the secret isn't configured.</a:t>
            </a:r>
            <a:endParaRPr lang="en-US" sz="1200" dirty="0"/>
          </a:p>
        </p:txBody>
      </p:sp>
      <p:sp>
        <p:nvSpPr>
          <p:cNvPr id="14" name="Shape 12"/>
          <p:cNvSpPr/>
          <p:nvPr/>
        </p:nvSpPr>
        <p:spPr>
          <a:xfrm>
            <a:off x="548640" y="3611880"/>
            <a:ext cx="11247120" cy="2286000"/>
          </a:xfrm>
          <a:prstGeom prst="roundRect">
            <a:avLst>
              <a:gd name="adj" fmla="val 3200"/>
            </a:avLst>
          </a:prstGeom>
          <a:solidFill>
            <a:srgbClr val="21295C"/>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5" name="Shape 13"/>
          <p:cNvSpPr/>
          <p:nvPr/>
        </p:nvSpPr>
        <p:spPr>
          <a:xfrm>
            <a:off x="822960" y="3886200"/>
            <a:ext cx="457200" cy="457200"/>
          </a:xfrm>
          <a:prstGeom prst="ellipse">
            <a:avLst/>
          </a:prstGeom>
          <a:solidFill>
            <a:srgbClr val="F96167"/>
          </a:solidFill>
          <a:ln/>
        </p:spPr>
      </p:sp>
      <p:sp>
        <p:nvSpPr>
          <p:cNvPr id="16" name="Text 14"/>
          <p:cNvSpPr txBox="1"/>
          <p:nvPr/>
        </p:nvSpPr>
        <p:spPr>
          <a:xfrm>
            <a:off x="822960" y="3904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W</a:t>
            </a:r>
            <a:endParaRPr lang="en-US" sz="1600" dirty="0"/>
          </a:p>
        </p:txBody>
      </p:sp>
      <p:sp>
        <p:nvSpPr>
          <p:cNvPr id="17" name="Text 15"/>
          <p:cNvSpPr txBox="1"/>
          <p:nvPr/>
        </p:nvSpPr>
        <p:spPr>
          <a:xfrm>
            <a:off x="1417320" y="3867912"/>
            <a:ext cx="1024128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Wallet page UX</a:t>
            </a:r>
            <a:endParaRPr lang="en-US" sz="1700" dirty="0"/>
          </a:p>
        </p:txBody>
      </p:sp>
      <p:sp>
        <p:nvSpPr>
          <p:cNvPr id="18" name="Text 16"/>
          <p:cNvSpPr txBox="1"/>
          <p:nvPr/>
        </p:nvSpPr>
        <p:spPr>
          <a:xfrm>
            <a:off x="868680" y="4480560"/>
            <a:ext cx="10607040" cy="123444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Two top-up flows: "Pay via Razorpay" (real gateway or dev-simulate) and "Manual credit" (admin add). Transaction history shows every debit/credit with balance-after + reference. Auto-resume of paused campaigns fires when a credit lifts balance above the minimum threshold.</a:t>
            </a:r>
            <a:endParaRPr lang="en-US" sz="1200" dirty="0"/>
          </a:p>
        </p:txBody>
      </p:sp>
      <p:sp>
        <p:nvSpPr>
          <p:cNvPr id="19" name="Shape 17"/>
          <p:cNvSpPr/>
          <p:nvPr/>
        </p:nvSpPr>
        <p:spPr>
          <a:xfrm>
            <a:off x="548640" y="6537960"/>
            <a:ext cx="320040" cy="27432"/>
          </a:xfrm>
          <a:prstGeom prst="rectangle">
            <a:avLst/>
          </a:prstGeom>
          <a:solidFill>
            <a:srgbClr val="F96167"/>
          </a:solidFill>
          <a:ln/>
        </p:spPr>
      </p:sp>
      <p:sp>
        <p:nvSpPr>
          <p:cNvPr id="20" name="Text 18"/>
          <p:cNvSpPr txBox="1"/>
          <p:nvPr/>
        </p:nvSpPr>
        <p:spPr>
          <a:xfrm>
            <a:off x="960120" y="644652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TalkEx Business  ·  User Manual</a:t>
            </a:r>
            <a:endParaRPr lang="en-US" sz="900" dirty="0"/>
          </a:p>
        </p:txBody>
      </p:sp>
      <p:sp>
        <p:nvSpPr>
          <p:cNvPr id="21" name="Text 19"/>
          <p:cNvSpPr txBox="1"/>
          <p:nvPr/>
        </p:nvSpPr>
        <p:spPr>
          <a:xfrm>
            <a:off x="10607040" y="6446520"/>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23 / 26</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DPDP compliance &amp; auditing</a:t>
            </a:r>
            <a:endParaRPr lang="en-US" sz="30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indent="0" marL="0">
              <a:buNone/>
            </a:pPr>
            <a:r>
              <a:rPr lang="en-US" sz="1300" b="1" spc="400" kern="0" dirty="0">
                <a:solidFill>
                  <a:srgbClr val="1C7293"/>
                </a:solidFill>
                <a:latin typeface="Calibri" pitchFamily="34" charset="0"/>
                <a:ea typeface="Calibri" pitchFamily="34" charset="-122"/>
                <a:cs typeface="Calibri" pitchFamily="34" charset="-120"/>
              </a:rPr>
              <a:t>INDIA-FIRST DATA PROTECTION</a:t>
            </a:r>
            <a:endParaRPr lang="en-US" sz="1300" dirty="0"/>
          </a:p>
        </p:txBody>
      </p:sp>
      <p:sp>
        <p:nvSpPr>
          <p:cNvPr id="4" name="Shape 2"/>
          <p:cNvSpPr/>
          <p:nvPr/>
        </p:nvSpPr>
        <p:spPr>
          <a:xfrm>
            <a:off x="548640" y="1371600"/>
            <a:ext cx="5486400" cy="2103120"/>
          </a:xfrm>
          <a:prstGeom prst="roundRect">
            <a:avLst>
              <a:gd name="adj" fmla="val 3478"/>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822960" y="1645920"/>
            <a:ext cx="457200" cy="457200"/>
          </a:xfrm>
          <a:prstGeom prst="ellipse">
            <a:avLst/>
          </a:prstGeom>
          <a:solidFill>
            <a:srgbClr val="F96167"/>
          </a:solidFill>
          <a:ln/>
        </p:spPr>
      </p:sp>
      <p:sp>
        <p:nvSpPr>
          <p:cNvPr id="6" name="Text 4"/>
          <p:cNvSpPr txBox="1"/>
          <p:nvPr/>
        </p:nvSpPr>
        <p:spPr>
          <a:xfrm>
            <a:off x="82296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a:t>
            </a:r>
            <a:endParaRPr lang="en-US" sz="1600" dirty="0"/>
          </a:p>
        </p:txBody>
      </p:sp>
      <p:sp>
        <p:nvSpPr>
          <p:cNvPr id="7" name="Text 5"/>
          <p:cNvSpPr txBox="1"/>
          <p:nvPr/>
        </p:nvSpPr>
        <p:spPr>
          <a:xfrm>
            <a:off x="1417320" y="162763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Consent records</a:t>
            </a:r>
            <a:endParaRPr lang="en-US" sz="1700" dirty="0"/>
          </a:p>
        </p:txBody>
      </p:sp>
      <p:sp>
        <p:nvSpPr>
          <p:cNvPr id="8" name="Text 6"/>
          <p:cNvSpPr txBox="1"/>
          <p:nvPr/>
        </p:nvSpPr>
        <p:spPr>
          <a:xfrm>
            <a:off x="868680" y="2240280"/>
            <a:ext cx="4846320" cy="10515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Log every contact's consent per purpose (marketing, transactional, service). Revoke-all endpoint per contact for one-click opt-out.</a:t>
            </a:r>
            <a:endParaRPr lang="en-US" sz="1200" dirty="0"/>
          </a:p>
        </p:txBody>
      </p:sp>
      <p:sp>
        <p:nvSpPr>
          <p:cNvPr id="9" name="Shape 7"/>
          <p:cNvSpPr/>
          <p:nvPr/>
        </p:nvSpPr>
        <p:spPr>
          <a:xfrm>
            <a:off x="6309360" y="1371600"/>
            <a:ext cx="5486400" cy="2103120"/>
          </a:xfrm>
          <a:prstGeom prst="roundRect">
            <a:avLst>
              <a:gd name="adj" fmla="val 3478"/>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6583680" y="1645920"/>
            <a:ext cx="457200" cy="457200"/>
          </a:xfrm>
          <a:prstGeom prst="ellipse">
            <a:avLst/>
          </a:prstGeom>
          <a:solidFill>
            <a:srgbClr val="F96167"/>
          </a:solidFill>
          <a:ln/>
        </p:spPr>
      </p:sp>
      <p:sp>
        <p:nvSpPr>
          <p:cNvPr id="11" name="Text 9"/>
          <p:cNvSpPr txBox="1"/>
          <p:nvPr/>
        </p:nvSpPr>
        <p:spPr>
          <a:xfrm>
            <a:off x="658368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a:t>
            </a:r>
            <a:endParaRPr lang="en-US" sz="1600" dirty="0"/>
          </a:p>
        </p:txBody>
      </p:sp>
      <p:sp>
        <p:nvSpPr>
          <p:cNvPr id="12" name="Text 10"/>
          <p:cNvSpPr txBox="1"/>
          <p:nvPr/>
        </p:nvSpPr>
        <p:spPr>
          <a:xfrm>
            <a:off x="7178040" y="162763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DSAR workflow</a:t>
            </a:r>
            <a:endParaRPr lang="en-US" sz="1700" dirty="0"/>
          </a:p>
        </p:txBody>
      </p:sp>
      <p:sp>
        <p:nvSpPr>
          <p:cNvPr id="13" name="Text 11"/>
          <p:cNvSpPr txBox="1"/>
          <p:nvPr/>
        </p:nvSpPr>
        <p:spPr>
          <a:xfrm>
            <a:off x="6629400" y="2240280"/>
            <a:ext cx="4846320" cy="10515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Data-Subject Access Request queue with three actions — Process, Complete (with response text), Reject (with reason). Every action is audited.</a:t>
            </a:r>
            <a:endParaRPr lang="en-US" sz="1200" dirty="0"/>
          </a:p>
        </p:txBody>
      </p:sp>
      <p:sp>
        <p:nvSpPr>
          <p:cNvPr id="14" name="Shape 12"/>
          <p:cNvSpPr/>
          <p:nvPr/>
        </p:nvSpPr>
        <p:spPr>
          <a:xfrm>
            <a:off x="548640" y="3611880"/>
            <a:ext cx="5486400" cy="2286000"/>
          </a:xfrm>
          <a:prstGeom prst="roundRect">
            <a:avLst>
              <a:gd name="adj" fmla="val 3200"/>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5" name="Shape 13"/>
          <p:cNvSpPr/>
          <p:nvPr/>
        </p:nvSpPr>
        <p:spPr>
          <a:xfrm>
            <a:off x="822960" y="3886200"/>
            <a:ext cx="457200" cy="457200"/>
          </a:xfrm>
          <a:prstGeom prst="ellipse">
            <a:avLst/>
          </a:prstGeom>
          <a:solidFill>
            <a:srgbClr val="F96167"/>
          </a:solidFill>
          <a:ln/>
        </p:spPr>
      </p:sp>
      <p:sp>
        <p:nvSpPr>
          <p:cNvPr id="16" name="Text 14"/>
          <p:cNvSpPr txBox="1"/>
          <p:nvPr/>
        </p:nvSpPr>
        <p:spPr>
          <a:xfrm>
            <a:off x="822960" y="3904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P</a:t>
            </a:r>
            <a:endParaRPr lang="en-US" sz="1600" dirty="0"/>
          </a:p>
        </p:txBody>
      </p:sp>
      <p:sp>
        <p:nvSpPr>
          <p:cNvPr id="17" name="Text 15"/>
          <p:cNvSpPr txBox="1"/>
          <p:nvPr/>
        </p:nvSpPr>
        <p:spPr>
          <a:xfrm>
            <a:off x="1417320" y="386791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Processing records</a:t>
            </a:r>
            <a:endParaRPr lang="en-US" sz="1700" dirty="0"/>
          </a:p>
        </p:txBody>
      </p:sp>
      <p:sp>
        <p:nvSpPr>
          <p:cNvPr id="18" name="Text 16"/>
          <p:cNvSpPr txBox="1"/>
          <p:nvPr/>
        </p:nvSpPr>
        <p:spPr>
          <a:xfrm>
            <a:off x="868680" y="4480560"/>
            <a:ext cx="484632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Article 8-style register of every processing activity (purpose, legal basis, retention). Editable in the Compliance page.</a:t>
            </a:r>
            <a:endParaRPr lang="en-US" sz="1200" dirty="0"/>
          </a:p>
        </p:txBody>
      </p:sp>
      <p:sp>
        <p:nvSpPr>
          <p:cNvPr id="19" name="Shape 17"/>
          <p:cNvSpPr/>
          <p:nvPr/>
        </p:nvSpPr>
        <p:spPr>
          <a:xfrm>
            <a:off x="6309360" y="3611880"/>
            <a:ext cx="5486400" cy="2286000"/>
          </a:xfrm>
          <a:prstGeom prst="roundRect">
            <a:avLst>
              <a:gd name="adj" fmla="val 3200"/>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6583680" y="3886200"/>
            <a:ext cx="457200" cy="457200"/>
          </a:xfrm>
          <a:prstGeom prst="ellipse">
            <a:avLst/>
          </a:prstGeom>
          <a:solidFill>
            <a:srgbClr val="F96167"/>
          </a:solidFill>
          <a:ln/>
        </p:spPr>
      </p:sp>
      <p:sp>
        <p:nvSpPr>
          <p:cNvPr id="21" name="Text 19"/>
          <p:cNvSpPr txBox="1"/>
          <p:nvPr/>
        </p:nvSpPr>
        <p:spPr>
          <a:xfrm>
            <a:off x="6583680" y="3904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a:t>
            </a:r>
            <a:endParaRPr lang="en-US" sz="1600" dirty="0"/>
          </a:p>
        </p:txBody>
      </p:sp>
      <p:sp>
        <p:nvSpPr>
          <p:cNvPr id="22" name="Text 20"/>
          <p:cNvSpPr txBox="1"/>
          <p:nvPr/>
        </p:nvSpPr>
        <p:spPr>
          <a:xfrm>
            <a:off x="7178040" y="386791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Audit log</a:t>
            </a:r>
            <a:endParaRPr lang="en-US" sz="1700" dirty="0"/>
          </a:p>
        </p:txBody>
      </p:sp>
      <p:sp>
        <p:nvSpPr>
          <p:cNvPr id="23" name="Text 21"/>
          <p:cNvSpPr txBox="1"/>
          <p:nvPr/>
        </p:nvSpPr>
        <p:spPr>
          <a:xfrm>
            <a:off x="6629400" y="4480560"/>
            <a:ext cx="484632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Middleware records every state-changing request (actor, route, resource, timestamp). Searchable + CSV-exportable in the Logs page.</a:t>
            </a:r>
            <a:endParaRPr lang="en-US" sz="1200" dirty="0"/>
          </a:p>
        </p:txBody>
      </p:sp>
      <p:sp>
        <p:nvSpPr>
          <p:cNvPr id="24" name="Shape 22"/>
          <p:cNvSpPr/>
          <p:nvPr/>
        </p:nvSpPr>
        <p:spPr>
          <a:xfrm>
            <a:off x="548640" y="6537960"/>
            <a:ext cx="320040" cy="27432"/>
          </a:xfrm>
          <a:prstGeom prst="rectangle">
            <a:avLst/>
          </a:prstGeom>
          <a:solidFill>
            <a:srgbClr val="F96167"/>
          </a:solidFill>
          <a:ln/>
        </p:spPr>
      </p:sp>
      <p:sp>
        <p:nvSpPr>
          <p:cNvPr id="25" name="Text 23"/>
          <p:cNvSpPr txBox="1"/>
          <p:nvPr/>
        </p:nvSpPr>
        <p:spPr>
          <a:xfrm>
            <a:off x="960120" y="644652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TalkEx Business  ·  User Manual</a:t>
            </a:r>
            <a:endParaRPr lang="en-US" sz="900" dirty="0"/>
          </a:p>
        </p:txBody>
      </p:sp>
      <p:sp>
        <p:nvSpPr>
          <p:cNvPr id="26" name="Text 24"/>
          <p:cNvSpPr txBox="1"/>
          <p:nvPr/>
        </p:nvSpPr>
        <p:spPr>
          <a:xfrm>
            <a:off x="10607040" y="6446520"/>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24 / 26</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Ops toolchain</a:t>
            </a:r>
            <a:endParaRPr lang="en-US" sz="30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indent="0" marL="0">
              <a:buNone/>
            </a:pPr>
            <a:r>
              <a:rPr lang="en-US" sz="1300" b="1" spc="400" kern="0" dirty="0">
                <a:solidFill>
                  <a:srgbClr val="1C7293"/>
                </a:solidFill>
                <a:latin typeface="Calibri" pitchFamily="34" charset="0"/>
                <a:ea typeface="Calibri" pitchFamily="34" charset="-122"/>
                <a:cs typeface="Calibri" pitchFamily="34" charset="-120"/>
              </a:rPr>
              <a:t>DOCKER · CI · METRICS · BACKUP</a:t>
            </a:r>
            <a:endParaRPr lang="en-US" sz="1300" dirty="0"/>
          </a:p>
        </p:txBody>
      </p:sp>
      <p:sp>
        <p:nvSpPr>
          <p:cNvPr id="4" name="Shape 2"/>
          <p:cNvSpPr/>
          <p:nvPr/>
        </p:nvSpPr>
        <p:spPr>
          <a:xfrm>
            <a:off x="548640" y="1371600"/>
            <a:ext cx="5486400" cy="2103120"/>
          </a:xfrm>
          <a:prstGeom prst="roundRect">
            <a:avLst>
              <a:gd name="adj" fmla="val 3478"/>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822960" y="1645920"/>
            <a:ext cx="457200" cy="457200"/>
          </a:xfrm>
          <a:prstGeom prst="ellipse">
            <a:avLst/>
          </a:prstGeom>
          <a:solidFill>
            <a:srgbClr val="F96167"/>
          </a:solidFill>
          <a:ln/>
        </p:spPr>
      </p:sp>
      <p:sp>
        <p:nvSpPr>
          <p:cNvPr id="6" name="Text 4"/>
          <p:cNvSpPr txBox="1"/>
          <p:nvPr/>
        </p:nvSpPr>
        <p:spPr>
          <a:xfrm>
            <a:off x="82296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a:t>
            </a:r>
            <a:endParaRPr lang="en-US" sz="1600" dirty="0"/>
          </a:p>
        </p:txBody>
      </p:sp>
      <p:sp>
        <p:nvSpPr>
          <p:cNvPr id="7" name="Text 5"/>
          <p:cNvSpPr txBox="1"/>
          <p:nvPr/>
        </p:nvSpPr>
        <p:spPr>
          <a:xfrm>
            <a:off x="1417320" y="162763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Docker Compose</a:t>
            </a:r>
            <a:endParaRPr lang="en-US" sz="1700" dirty="0"/>
          </a:p>
        </p:txBody>
      </p:sp>
      <p:sp>
        <p:nvSpPr>
          <p:cNvPr id="8" name="Text 6"/>
          <p:cNvSpPr txBox="1"/>
          <p:nvPr/>
        </p:nvSpPr>
        <p:spPr>
          <a:xfrm>
            <a:off x="868680" y="2240280"/>
            <a:ext cx="4846320" cy="10515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One-command stack: Postgres 16 + Redis 7 + Go API + Vite web. Health-checked; distroless final image (~15 MB); provider env vars pass through with dev-mode fallbacks.</a:t>
            </a:r>
            <a:endParaRPr lang="en-US" sz="1200" dirty="0"/>
          </a:p>
        </p:txBody>
      </p:sp>
      <p:sp>
        <p:nvSpPr>
          <p:cNvPr id="9" name="Shape 7"/>
          <p:cNvSpPr/>
          <p:nvPr/>
        </p:nvSpPr>
        <p:spPr>
          <a:xfrm>
            <a:off x="6309360" y="1371600"/>
            <a:ext cx="5486400" cy="2103120"/>
          </a:xfrm>
          <a:prstGeom prst="roundRect">
            <a:avLst>
              <a:gd name="adj" fmla="val 3478"/>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6583680" y="1645920"/>
            <a:ext cx="457200" cy="457200"/>
          </a:xfrm>
          <a:prstGeom prst="ellipse">
            <a:avLst/>
          </a:prstGeom>
          <a:solidFill>
            <a:srgbClr val="F96167"/>
          </a:solidFill>
          <a:ln/>
        </p:spPr>
      </p:sp>
      <p:sp>
        <p:nvSpPr>
          <p:cNvPr id="11" name="Text 9"/>
          <p:cNvSpPr txBox="1"/>
          <p:nvPr/>
        </p:nvSpPr>
        <p:spPr>
          <a:xfrm>
            <a:off x="658368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a:t>
            </a:r>
            <a:endParaRPr lang="en-US" sz="1600" dirty="0"/>
          </a:p>
        </p:txBody>
      </p:sp>
      <p:sp>
        <p:nvSpPr>
          <p:cNvPr id="12" name="Text 10"/>
          <p:cNvSpPr txBox="1"/>
          <p:nvPr/>
        </p:nvSpPr>
        <p:spPr>
          <a:xfrm>
            <a:off x="7178040" y="162763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GitHub Actions CI</a:t>
            </a:r>
            <a:endParaRPr lang="en-US" sz="1700" dirty="0"/>
          </a:p>
        </p:txBody>
      </p:sp>
      <p:sp>
        <p:nvSpPr>
          <p:cNvPr id="13" name="Text 11"/>
          <p:cNvSpPr txBox="1"/>
          <p:nvPr/>
        </p:nvSpPr>
        <p:spPr>
          <a:xfrm>
            <a:off x="6629400" y="2240280"/>
            <a:ext cx="4846320" cy="10515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 PR runs go build + vet + test, tsc --noEmit + npm build, and Docker image builds for both API and web.</a:t>
            </a:r>
            <a:endParaRPr lang="en-US" sz="1200" dirty="0"/>
          </a:p>
        </p:txBody>
      </p:sp>
      <p:sp>
        <p:nvSpPr>
          <p:cNvPr id="14" name="Shape 12"/>
          <p:cNvSpPr/>
          <p:nvPr/>
        </p:nvSpPr>
        <p:spPr>
          <a:xfrm>
            <a:off x="548640" y="3611880"/>
            <a:ext cx="5486400" cy="2286000"/>
          </a:xfrm>
          <a:prstGeom prst="roundRect">
            <a:avLst>
              <a:gd name="adj" fmla="val 3200"/>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15" name="Shape 13"/>
          <p:cNvSpPr/>
          <p:nvPr/>
        </p:nvSpPr>
        <p:spPr>
          <a:xfrm>
            <a:off x="822960" y="3886200"/>
            <a:ext cx="457200" cy="457200"/>
          </a:xfrm>
          <a:prstGeom prst="ellipse">
            <a:avLst/>
          </a:prstGeom>
          <a:solidFill>
            <a:srgbClr val="F96167"/>
          </a:solidFill>
          <a:ln/>
        </p:spPr>
      </p:sp>
      <p:sp>
        <p:nvSpPr>
          <p:cNvPr id="16" name="Text 14"/>
          <p:cNvSpPr txBox="1"/>
          <p:nvPr/>
        </p:nvSpPr>
        <p:spPr>
          <a:xfrm>
            <a:off x="822960" y="3904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a:t>
            </a:r>
            <a:endParaRPr lang="en-US" sz="1600" dirty="0"/>
          </a:p>
        </p:txBody>
      </p:sp>
      <p:sp>
        <p:nvSpPr>
          <p:cNvPr id="17" name="Text 15"/>
          <p:cNvSpPr txBox="1"/>
          <p:nvPr/>
        </p:nvSpPr>
        <p:spPr>
          <a:xfrm>
            <a:off x="1417320" y="386791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Prometheus + OpenAPI</a:t>
            </a:r>
            <a:endParaRPr lang="en-US" sz="1700" dirty="0"/>
          </a:p>
        </p:txBody>
      </p:sp>
      <p:sp>
        <p:nvSpPr>
          <p:cNvPr id="18" name="Text 16"/>
          <p:cNvSpPr txBox="1"/>
          <p:nvPr/>
        </p:nvSpPr>
        <p:spPr>
          <a:xfrm>
            <a:off x="868680" y="4480560"/>
            <a:ext cx="484632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GET /metrics exposes HTTP counters (2xx/4xx/5xx) + goroutines/memory in text format. openapi.yaml lets external SDK generators auto-produce clients.</a:t>
            </a:r>
            <a:endParaRPr lang="en-US" sz="1200" dirty="0"/>
          </a:p>
        </p:txBody>
      </p:sp>
      <p:sp>
        <p:nvSpPr>
          <p:cNvPr id="19" name="Shape 17"/>
          <p:cNvSpPr/>
          <p:nvPr/>
        </p:nvSpPr>
        <p:spPr>
          <a:xfrm>
            <a:off x="6309360" y="3611880"/>
            <a:ext cx="5486400" cy="2286000"/>
          </a:xfrm>
          <a:prstGeom prst="roundRect">
            <a:avLst>
              <a:gd name="adj" fmla="val 3200"/>
            </a:avLst>
          </a:prstGeom>
          <a:solidFill>
            <a:srgbClr val="FFFFFF"/>
          </a:solidFill>
          <a:ln w="6350">
            <a:solidFill>
              <a:srgbClr val="E5E7EB"/>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6583680" y="3886200"/>
            <a:ext cx="457200" cy="457200"/>
          </a:xfrm>
          <a:prstGeom prst="ellipse">
            <a:avLst/>
          </a:prstGeom>
          <a:solidFill>
            <a:srgbClr val="F96167"/>
          </a:solidFill>
          <a:ln/>
        </p:spPr>
      </p:sp>
      <p:sp>
        <p:nvSpPr>
          <p:cNvPr id="21" name="Text 19"/>
          <p:cNvSpPr txBox="1"/>
          <p:nvPr/>
        </p:nvSpPr>
        <p:spPr>
          <a:xfrm>
            <a:off x="6583680" y="3904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B</a:t>
            </a:r>
            <a:endParaRPr lang="en-US" sz="1600" dirty="0"/>
          </a:p>
        </p:txBody>
      </p:sp>
      <p:sp>
        <p:nvSpPr>
          <p:cNvPr id="22" name="Text 20"/>
          <p:cNvSpPr txBox="1"/>
          <p:nvPr/>
        </p:nvSpPr>
        <p:spPr>
          <a:xfrm>
            <a:off x="7178040" y="3867912"/>
            <a:ext cx="4480560" cy="365760"/>
          </a:xfrm>
          <a:prstGeom prst="rect">
            <a:avLst/>
          </a:prstGeom>
          <a:noFill/>
          <a:ln/>
        </p:spPr>
        <p:txBody>
          <a:bodyPr wrap="square" lIns="0" tIns="0" rIns="0" bIns="0" rtlCol="0" anchor="ctr"/>
          <a:lstStyle/>
          <a:p>
            <a:pPr indent="0" marL="0">
              <a:buNone/>
            </a:pPr>
            <a:r>
              <a:rPr lang="en-US" sz="1700" b="1" dirty="0">
                <a:solidFill>
                  <a:srgbClr val="111827"/>
                </a:solidFill>
                <a:latin typeface="Cambria" pitchFamily="34" charset="0"/>
                <a:ea typeface="Cambria" pitchFamily="34" charset="-122"/>
                <a:cs typeface="Cambria" pitchFamily="34" charset="-120"/>
              </a:rPr>
              <a:t>Backup CLI</a:t>
            </a:r>
            <a:endParaRPr lang="en-US" sz="1700" dirty="0"/>
          </a:p>
        </p:txBody>
      </p:sp>
      <p:sp>
        <p:nvSpPr>
          <p:cNvPr id="23" name="Text 21"/>
          <p:cNvSpPr txBox="1"/>
          <p:nvPr/>
        </p:nvSpPr>
        <p:spPr>
          <a:xfrm>
            <a:off x="6629400" y="4480560"/>
            <a:ext cx="484632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`go run ./cmd/backup -owner &lt;id&gt;` dumps a single tenant's complete data across 30+ tables to a JSON file. Perfect for support handoffs and DPDP Article 11 portability requests.</a:t>
            </a:r>
            <a:endParaRPr lang="en-US" sz="1200" dirty="0"/>
          </a:p>
        </p:txBody>
      </p:sp>
      <p:sp>
        <p:nvSpPr>
          <p:cNvPr id="24" name="Shape 22"/>
          <p:cNvSpPr/>
          <p:nvPr/>
        </p:nvSpPr>
        <p:spPr>
          <a:xfrm>
            <a:off x="548640" y="6537960"/>
            <a:ext cx="320040" cy="27432"/>
          </a:xfrm>
          <a:prstGeom prst="rectangle">
            <a:avLst/>
          </a:prstGeom>
          <a:solidFill>
            <a:srgbClr val="F96167"/>
          </a:solidFill>
          <a:ln/>
        </p:spPr>
      </p:sp>
      <p:sp>
        <p:nvSpPr>
          <p:cNvPr id="25" name="Text 23"/>
          <p:cNvSpPr txBox="1"/>
          <p:nvPr/>
        </p:nvSpPr>
        <p:spPr>
          <a:xfrm>
            <a:off x="960120" y="644652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TalkEx Business  ·  User Manual</a:t>
            </a:r>
            <a:endParaRPr lang="en-US" sz="900" dirty="0"/>
          </a:p>
        </p:txBody>
      </p:sp>
      <p:sp>
        <p:nvSpPr>
          <p:cNvPr id="26" name="Text 24"/>
          <p:cNvSpPr txBox="1"/>
          <p:nvPr/>
        </p:nvSpPr>
        <p:spPr>
          <a:xfrm>
            <a:off x="10607040" y="6446520"/>
            <a:ext cx="109728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25 / 26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371600" y="-1371600"/>
            <a:ext cx="5029200" cy="5029200"/>
          </a:xfrm>
          <a:prstGeom prst="ellipse">
            <a:avLst/>
          </a:prstGeom>
          <a:solidFill>
            <a:srgbClr val="065A82"/>
          </a:solidFill>
          <a:ln/>
        </p:spPr>
      </p:sp>
      <p:sp>
        <p:nvSpPr>
          <p:cNvPr id="3" name="Shape 1"/>
          <p:cNvSpPr/>
          <p:nvPr/>
        </p:nvSpPr>
        <p:spPr>
          <a:xfrm>
            <a:off x="9144000" y="4114800"/>
            <a:ext cx="4114800" cy="4114800"/>
          </a:xfrm>
          <a:prstGeom prst="ellipse">
            <a:avLst/>
          </a:prstGeom>
          <a:solidFill>
            <a:srgbClr val="1C7293">
              <a:alpha val="70000"/>
            </a:srgbClr>
          </a:solidFill>
          <a:ln/>
        </p:spPr>
      </p:sp>
      <p:sp>
        <p:nvSpPr>
          <p:cNvPr id="4" name="Text 2"/>
          <p:cNvSpPr txBox="1"/>
          <p:nvPr/>
        </p:nvSpPr>
        <p:spPr>
          <a:xfrm>
            <a:off x="640080" y="2011680"/>
            <a:ext cx="10058400" cy="137160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Ready to run.</a:t>
            </a:r>
            <a:endParaRPr lang="en-US" sz="6600" dirty="0"/>
          </a:p>
        </p:txBody>
      </p:sp>
      <p:sp>
        <p:nvSpPr>
          <p:cNvPr id="5" name="Text 3"/>
          <p:cNvSpPr txBox="1"/>
          <p:nvPr/>
        </p:nvSpPr>
        <p:spPr>
          <a:xfrm>
            <a:off x="640080" y="3291840"/>
            <a:ext cx="10058400" cy="64008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One repo · one deploy · every conversation.</a:t>
            </a:r>
            <a:endParaRPr lang="en-US" sz="2200" dirty="0"/>
          </a:p>
        </p:txBody>
      </p:sp>
      <p:sp>
        <p:nvSpPr>
          <p:cNvPr id="6" name="Shape 4"/>
          <p:cNvSpPr/>
          <p:nvPr/>
        </p:nvSpPr>
        <p:spPr>
          <a:xfrm>
            <a:off x="640080" y="5029200"/>
            <a:ext cx="548640" cy="54864"/>
          </a:xfrm>
          <a:prstGeom prst="rectangle">
            <a:avLst/>
          </a:prstGeom>
          <a:solidFill>
            <a:srgbClr val="F96167"/>
          </a:solidFill>
          <a:ln/>
        </p:spPr>
      </p:sp>
      <p:sp>
        <p:nvSpPr>
          <p:cNvPr id="7" name="Text 5"/>
          <p:cNvSpPr txBox="1"/>
          <p:nvPr/>
        </p:nvSpPr>
        <p:spPr>
          <a:xfrm>
            <a:off x="640080" y="5257800"/>
            <a:ext cx="9144000" cy="457200"/>
          </a:xfrm>
          <a:prstGeom prst="rect">
            <a:avLst/>
          </a:prstGeom>
          <a:noFill/>
          <a:ln/>
        </p:spPr>
        <p:txBody>
          <a:bodyPr wrap="square" lIns="0" tIns="0" rIns="0" bIns="0" rtlCol="0" anchor="ctr"/>
          <a:lstStyle/>
          <a:p>
            <a:pPr indent="0" marL="0">
              <a:buNone/>
            </a:pPr>
            <a:r>
              <a:rPr lang="en-US" sz="1600" dirty="0">
                <a:solidFill>
                  <a:srgbClr val="F9E795"/>
                </a:solidFill>
                <a:latin typeface="Courier New" pitchFamily="34" charset="0"/>
                <a:ea typeface="Courier New" pitchFamily="34" charset="-122"/>
                <a:cs typeface="Courier New" pitchFamily="34" charset="-120"/>
              </a:rPr>
              <a:t>docker compose up   →   http://localhost:5173</a:t>
            </a:r>
            <a:endParaRPr lang="en-US" sz="1600" dirty="0"/>
          </a:p>
        </p:txBody>
      </p:sp>
      <p:sp>
        <p:nvSpPr>
          <p:cNvPr id="8" name="Text 6"/>
          <p:cNvSpPr txBox="1"/>
          <p:nvPr/>
        </p:nvSpPr>
        <p:spPr>
          <a:xfrm>
            <a:off x="640080" y="6217920"/>
            <a:ext cx="9144000" cy="36576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CoreAxis Ventures  ·  Talk to us — hello@coreaxis.dev</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TalkEx Business — User Manual</dc:title>
  <dc:subject>PptxGenJS Presentation</dc:subject>
  <dc:creator>CoreAxis Ventures</dc:creator>
  <cp:lastModifiedBy>CoreAxis Ventures</cp:lastModifiedBy>
  <cp:revision>1</cp:revision>
  <dcterms:created xsi:type="dcterms:W3CDTF">2026-08-29T23:56:39Z</dcterms:created>
  <dcterms:modified xsi:type="dcterms:W3CDTF">2026-08-29T23:56:39Z</dcterms:modified>
</cp:coreProperties>
</file>